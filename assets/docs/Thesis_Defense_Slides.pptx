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autoCompressPictures="0">
  <p:sldMasterIdLst>
    <p:sldMasterId id="2147483648" r:id="rId4"/>
  </p:sldMasterIdLst>
  <p:notesMasterIdLst>
    <p:notesMasterId r:id="rId35"/>
  </p:notesMasterIdLst>
  <p:sldIdLst>
    <p:sldId id="259" r:id="rId5"/>
    <p:sldId id="298" r:id="rId6"/>
    <p:sldId id="263" r:id="rId7"/>
    <p:sldId id="306" r:id="rId8"/>
    <p:sldId id="307" r:id="rId9"/>
    <p:sldId id="308" r:id="rId10"/>
    <p:sldId id="304" r:id="rId11"/>
    <p:sldId id="309" r:id="rId12"/>
    <p:sldId id="312" r:id="rId13"/>
    <p:sldId id="311" r:id="rId14"/>
    <p:sldId id="313" r:id="rId15"/>
    <p:sldId id="314" r:id="rId16"/>
    <p:sldId id="315" r:id="rId17"/>
    <p:sldId id="331" r:id="rId18"/>
    <p:sldId id="332" r:id="rId19"/>
    <p:sldId id="333" r:id="rId20"/>
    <p:sldId id="317" r:id="rId21"/>
    <p:sldId id="326" r:id="rId22"/>
    <p:sldId id="327" r:id="rId23"/>
    <p:sldId id="328" r:id="rId24"/>
    <p:sldId id="329" r:id="rId25"/>
    <p:sldId id="330" r:id="rId26"/>
    <p:sldId id="316" r:id="rId27"/>
    <p:sldId id="318" r:id="rId28"/>
    <p:sldId id="320" r:id="rId29"/>
    <p:sldId id="319" r:id="rId30"/>
    <p:sldId id="321" r:id="rId31"/>
    <p:sldId id="322" r:id="rId32"/>
    <p:sldId id="323" r:id="rId33"/>
    <p:sldId id="324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0000"/>
    <a:srgbClr val="1D82BC"/>
    <a:srgbClr val="D99999"/>
    <a:srgbClr val="1A80BB"/>
    <a:srgbClr val="006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4" autoAdjust="0"/>
    <p:restoredTop sz="29152" autoAdjust="0"/>
  </p:normalViewPr>
  <p:slideViewPr>
    <p:cSldViewPr snapToGrid="0">
      <p:cViewPr>
        <p:scale>
          <a:sx n="62" d="100"/>
          <a:sy n="62" d="100"/>
        </p:scale>
        <p:origin x="798" y="-852"/>
      </p:cViewPr>
      <p:guideLst/>
    </p:cSldViewPr>
  </p:slideViewPr>
  <p:outlineViewPr>
    <p:cViewPr>
      <p:scale>
        <a:sx n="33" d="100"/>
        <a:sy n="33" d="100"/>
      </p:scale>
      <p:origin x="0" y="-10842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en Stephens" userId="0d4831a7-23f0-487a-809c-e20d0f1f63e9" providerId="ADAL" clId="{6425C3B7-BBF2-473A-B07E-0B5A9BE2F19D}"/>
    <pc:docChg chg="modSld">
      <pc:chgData name="Lauren Stephens" userId="0d4831a7-23f0-487a-809c-e20d0f1f63e9" providerId="ADAL" clId="{6425C3B7-BBF2-473A-B07E-0B5A9BE2F19D}" dt="2025-05-26T14:48:30.648" v="13" actId="20577"/>
      <pc:docMkLst>
        <pc:docMk/>
      </pc:docMkLst>
      <pc:sldChg chg="modNotesTx">
        <pc:chgData name="Lauren Stephens" userId="0d4831a7-23f0-487a-809c-e20d0f1f63e9" providerId="ADAL" clId="{6425C3B7-BBF2-473A-B07E-0B5A9BE2F19D}" dt="2025-05-26T14:48:02.341" v="1" actId="20577"/>
        <pc:sldMkLst>
          <pc:docMk/>
          <pc:sldMk cId="2508531729" sldId="263"/>
        </pc:sldMkLst>
      </pc:sldChg>
      <pc:sldChg chg="modNotesTx">
        <pc:chgData name="Lauren Stephens" userId="0d4831a7-23f0-487a-809c-e20d0f1f63e9" providerId="ADAL" clId="{6425C3B7-BBF2-473A-B07E-0B5A9BE2F19D}" dt="2025-05-26T14:48:00.159" v="0" actId="20577"/>
        <pc:sldMkLst>
          <pc:docMk/>
          <pc:sldMk cId="311787977" sldId="298"/>
        </pc:sldMkLst>
      </pc:sldChg>
      <pc:sldChg chg="modNotesTx">
        <pc:chgData name="Lauren Stephens" userId="0d4831a7-23f0-487a-809c-e20d0f1f63e9" providerId="ADAL" clId="{6425C3B7-BBF2-473A-B07E-0B5A9BE2F19D}" dt="2025-05-26T14:48:11.869" v="5" actId="20577"/>
        <pc:sldMkLst>
          <pc:docMk/>
          <pc:sldMk cId="417092697" sldId="304"/>
        </pc:sldMkLst>
      </pc:sldChg>
      <pc:sldChg chg="modNotesTx">
        <pc:chgData name="Lauren Stephens" userId="0d4831a7-23f0-487a-809c-e20d0f1f63e9" providerId="ADAL" clId="{6425C3B7-BBF2-473A-B07E-0B5A9BE2F19D}" dt="2025-05-26T14:48:04.361" v="2" actId="20577"/>
        <pc:sldMkLst>
          <pc:docMk/>
          <pc:sldMk cId="2003949450" sldId="306"/>
        </pc:sldMkLst>
      </pc:sldChg>
      <pc:sldChg chg="modNotesTx">
        <pc:chgData name="Lauren Stephens" userId="0d4831a7-23f0-487a-809c-e20d0f1f63e9" providerId="ADAL" clId="{6425C3B7-BBF2-473A-B07E-0B5A9BE2F19D}" dt="2025-05-26T14:48:06.623" v="3" actId="20577"/>
        <pc:sldMkLst>
          <pc:docMk/>
          <pc:sldMk cId="2034605472" sldId="307"/>
        </pc:sldMkLst>
      </pc:sldChg>
      <pc:sldChg chg="modNotesTx">
        <pc:chgData name="Lauren Stephens" userId="0d4831a7-23f0-487a-809c-e20d0f1f63e9" providerId="ADAL" clId="{6425C3B7-BBF2-473A-B07E-0B5A9BE2F19D}" dt="2025-05-26T14:48:09.069" v="4" actId="20577"/>
        <pc:sldMkLst>
          <pc:docMk/>
          <pc:sldMk cId="962642645" sldId="308"/>
        </pc:sldMkLst>
      </pc:sldChg>
      <pc:sldChg chg="modNotesTx">
        <pc:chgData name="Lauren Stephens" userId="0d4831a7-23f0-487a-809c-e20d0f1f63e9" providerId="ADAL" clId="{6425C3B7-BBF2-473A-B07E-0B5A9BE2F19D}" dt="2025-05-26T14:48:14.226" v="6" actId="20577"/>
        <pc:sldMkLst>
          <pc:docMk/>
          <pc:sldMk cId="4119640888" sldId="309"/>
        </pc:sldMkLst>
      </pc:sldChg>
      <pc:sldChg chg="modNotesTx">
        <pc:chgData name="Lauren Stephens" userId="0d4831a7-23f0-487a-809c-e20d0f1f63e9" providerId="ADAL" clId="{6425C3B7-BBF2-473A-B07E-0B5A9BE2F19D}" dt="2025-05-26T14:48:18.778" v="8" actId="20577"/>
        <pc:sldMkLst>
          <pc:docMk/>
          <pc:sldMk cId="3491668053" sldId="311"/>
        </pc:sldMkLst>
      </pc:sldChg>
      <pc:sldChg chg="modNotesTx">
        <pc:chgData name="Lauren Stephens" userId="0d4831a7-23f0-487a-809c-e20d0f1f63e9" providerId="ADAL" clId="{6425C3B7-BBF2-473A-B07E-0B5A9BE2F19D}" dt="2025-05-26T14:48:16.926" v="7" actId="20577"/>
        <pc:sldMkLst>
          <pc:docMk/>
          <pc:sldMk cId="3996747569" sldId="312"/>
        </pc:sldMkLst>
      </pc:sldChg>
      <pc:sldChg chg="modNotesTx">
        <pc:chgData name="Lauren Stephens" userId="0d4831a7-23f0-487a-809c-e20d0f1f63e9" providerId="ADAL" clId="{6425C3B7-BBF2-473A-B07E-0B5A9BE2F19D}" dt="2025-05-26T14:48:21.394" v="9" actId="20577"/>
        <pc:sldMkLst>
          <pc:docMk/>
          <pc:sldMk cId="1012594888" sldId="313"/>
        </pc:sldMkLst>
      </pc:sldChg>
      <pc:sldChg chg="modNotesTx">
        <pc:chgData name="Lauren Stephens" userId="0d4831a7-23f0-487a-809c-e20d0f1f63e9" providerId="ADAL" clId="{6425C3B7-BBF2-473A-B07E-0B5A9BE2F19D}" dt="2025-05-26T14:48:23.478" v="10" actId="20577"/>
        <pc:sldMkLst>
          <pc:docMk/>
          <pc:sldMk cId="664822186" sldId="314"/>
        </pc:sldMkLst>
      </pc:sldChg>
      <pc:sldChg chg="modNotesTx">
        <pc:chgData name="Lauren Stephens" userId="0d4831a7-23f0-487a-809c-e20d0f1f63e9" providerId="ADAL" clId="{6425C3B7-BBF2-473A-B07E-0B5A9BE2F19D}" dt="2025-05-26T14:48:25.915" v="11" actId="20577"/>
        <pc:sldMkLst>
          <pc:docMk/>
          <pc:sldMk cId="3840235546" sldId="315"/>
        </pc:sldMkLst>
      </pc:sldChg>
      <pc:sldChg chg="modNotesTx">
        <pc:chgData name="Lauren Stephens" userId="0d4831a7-23f0-487a-809c-e20d0f1f63e9" providerId="ADAL" clId="{6425C3B7-BBF2-473A-B07E-0B5A9BE2F19D}" dt="2025-05-26T14:48:27.896" v="12" actId="20577"/>
        <pc:sldMkLst>
          <pc:docMk/>
          <pc:sldMk cId="1245605492" sldId="331"/>
        </pc:sldMkLst>
      </pc:sldChg>
      <pc:sldChg chg="modNotesTx">
        <pc:chgData name="Lauren Stephens" userId="0d4831a7-23f0-487a-809c-e20d0f1f63e9" providerId="ADAL" clId="{6425C3B7-BBF2-473A-B07E-0B5A9BE2F19D}" dt="2025-05-26T14:48:30.648" v="13" actId="20577"/>
        <pc:sldMkLst>
          <pc:docMk/>
          <pc:sldMk cId="2680410108" sldId="33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746CF-939B-45BB-99B6-DDBAB7647148}" type="datetimeFigureOut">
              <a:rPr lang="en-CA" smtClean="0"/>
              <a:t>2025-05-24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8AA6F3-E78A-43FB-AB77-68C93463DE2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6479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1470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DB1F-CAF3-A7B5-03A0-BF2B11FC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EE7B16-C45B-4AE9-DEDB-B32FDFB460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18783-B5F9-E6FE-E723-D0B676DDC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C1587-A93F-7972-1236-CA4F1502F7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9108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167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DE637-CF30-51FB-1359-4B39DA8E6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5C78F-E4BF-F878-F7F7-881EFB0E3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10A7E8-875A-126A-5FE5-26A89A2C5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9694F-7EAB-DD36-BF8B-F1E8DEF243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1994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FD365-7F1E-9017-A410-B3044C8A0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CBEAA1-2CE3-B448-4B2C-72D94A8A9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A0B98B-A215-065F-B580-545CB03AAE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36C69-603A-02FE-9D4F-3AB61F863F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45777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0E794-CC81-1B74-54A5-12DCF52B1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1B99E8-B95F-76C0-DBC8-0CAF1BD116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9AAD7-4767-214C-19E1-79763257D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1E476-8729-8039-8DCD-007F8464F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4233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7885-CF10-CA35-BE31-26C89FA46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44B6A-80C7-309D-92F1-69A67ED2C9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6F744-8EFD-E109-2E0F-5347AD230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2CB60-67EB-F886-B425-C30F53ECF1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5068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E2430-0DE9-42D4-D762-75ED26CF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011FC6-1687-9096-81A0-F179A6132A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B31AF-C56C-3915-861B-D4406B5D0F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F7F4A-89D5-EA2C-DB2C-A1B7E3978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5635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3F119-5AF0-99EE-BD96-D20B6310D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F7221-5C21-960E-763A-26120B35C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9A6DB5-1435-8410-F032-147D1B9D8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9737D1-96C0-14FB-4863-D4E1AE4E0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4469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1548F-4556-3032-2157-20F0F2B90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373F9-475A-67F6-C22F-F2F7995524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55958D-8F57-38EF-2438-2F19A7C62D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77B3D-6ED5-44CE-C950-7F343B29D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40740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F818B-3F13-BD46-E7E5-52B0EFB4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A5ACB9-00CC-89F6-24C2-0B25515D1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FDFF9-2CE0-1A46-4C5B-C7414EBBF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30568-D769-97CD-291E-522CE0DA0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10623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1A6DE-3A78-86D6-DAAE-0B4A942A9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462A18-A1BA-ACDA-D77F-A1D8220B9F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C6152-9A29-8111-8605-8FC430C27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81B6E-9221-64EF-E326-57281DB84D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04839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A650-63BA-6991-4119-BF9144DF4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222F17-9D45-E649-0BC5-4C5E8615C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09D595-D52C-6FE0-3DAA-7CA2309A3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720F1-8D15-3122-E5B7-9E510BD681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07572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E450C-C9B0-3397-51AB-940F46342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85F55-A37E-CBAE-C560-D4849BCA1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3890B-1C60-FEDA-4D13-9027D1746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054E2-8144-1E9B-94AB-4DF88510D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65759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8947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C438-6D70-08CD-E463-D90F5F24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B03F2-B57F-5E26-23D9-F54700BF4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10742-42B6-3C7E-EEC6-0267EDBD2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F982C-E6A7-39BA-37BA-F58C912E52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45124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214FC-2C4F-B748-60ED-4F4D8728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983C8-06C2-C6FA-7D5E-6FDAB596FE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BB76EC-D59D-F502-54C4-95DF3B2E2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AFF9B-A0A1-1BD0-76AE-42C4750DA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8AA6F3-E78A-43FB-AB77-68C93463DE2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5905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5848141"/>
            <a:ext cx="11262866" cy="5424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386673"/>
            <a:ext cx="10993549" cy="1108771"/>
          </a:xfrm>
          <a:effectLst/>
        </p:spPr>
        <p:txBody>
          <a:bodyPr anchor="b">
            <a:normAutofit/>
          </a:bodyPr>
          <a:lstStyle>
            <a:lvl1pPr algn="ctr">
              <a:defRPr sz="4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 cap="all">
                <a:solidFill>
                  <a:schemeClr val="accent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68132" y="3498098"/>
            <a:ext cx="4863402" cy="1948109"/>
          </a:xfrm>
          <a:prstGeom prst="rect">
            <a:avLst/>
          </a:prstGeom>
        </p:spPr>
        <p:txBody>
          <a:bodyPr anchor="ctr"/>
          <a:lstStyle>
            <a:lvl1pPr algn="ctr">
              <a:defRPr sz="16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Your Name</a:t>
            </a:r>
          </a:p>
          <a:p>
            <a:r>
              <a:rPr lang="en-US" dirty="0"/>
              <a:t>Supervisor(s) Name</a:t>
            </a:r>
          </a:p>
          <a:p>
            <a:r>
              <a:rPr lang="en-US" dirty="0"/>
              <a:t>Committee Members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Event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939"/>
          <a:stretch/>
        </p:blipFill>
        <p:spPr>
          <a:xfrm>
            <a:off x="8559335" y="3272901"/>
            <a:ext cx="3150065" cy="23881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 userDrawn="1"/>
        </p:nvSpPr>
        <p:spPr>
          <a:xfrm flipV="1">
            <a:off x="440286" y="653142"/>
            <a:ext cx="11309338" cy="61839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286" y="657368"/>
            <a:ext cx="11309338" cy="691483"/>
          </a:xfrm>
        </p:spPr>
        <p:txBody>
          <a:bodyPr>
            <a:noAutofit/>
          </a:bodyPr>
          <a:lstStyle>
            <a:lvl1pPr algn="ctr">
              <a:defRPr sz="44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534712"/>
            <a:ext cx="11029615" cy="4324087"/>
          </a:xfrm>
        </p:spPr>
        <p:txBody>
          <a:bodyPr anchor="t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10807" y="59211"/>
            <a:ext cx="526254" cy="365125"/>
          </a:xfrm>
          <a:prstGeom prst="rect">
            <a:avLst/>
          </a:prstGeom>
        </p:spPr>
        <p:txBody>
          <a:bodyPr/>
          <a:lstStyle>
            <a:lvl1pPr algn="r">
              <a:defRPr sz="16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65" t="19896" r="2656" b="20355"/>
          <a:stretch/>
        </p:blipFill>
        <p:spPr>
          <a:xfrm>
            <a:off x="11041279" y="6217666"/>
            <a:ext cx="1095782" cy="6403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5848141"/>
            <a:ext cx="11262866" cy="5424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68132" y="2593747"/>
            <a:ext cx="4863402" cy="1948109"/>
          </a:xfrm>
          <a:prstGeom prst="rect">
            <a:avLst/>
          </a:prstGeom>
        </p:spPr>
        <p:txBody>
          <a:bodyPr anchor="ctr"/>
          <a:lstStyle>
            <a:lvl1pPr algn="ctr">
              <a:defRPr sz="4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998" t="11408" b="18425"/>
          <a:stretch/>
        </p:blipFill>
        <p:spPr>
          <a:xfrm>
            <a:off x="9007692" y="2393116"/>
            <a:ext cx="2561456" cy="1512399"/>
          </a:xfrm>
          <a:prstGeom prst="rect">
            <a:avLst/>
          </a:prstGeom>
        </p:spPr>
      </p:pic>
      <p:pic>
        <p:nvPicPr>
          <p:cNvPr id="2" name="Picture 4" descr="Directions to the Imaging Research Centre (IRC) at St. Joseph's Healthcare  Hamilton">
            <a:extLst>
              <a:ext uri="{FF2B5EF4-FFF2-40B4-BE49-F238E27FC236}">
                <a16:creationId xmlns:a16="http://schemas.microsoft.com/office/drawing/2014/main" id="{0D76AC29-FBD2-C941-A2A6-6C7D0A43AC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64" y="2607679"/>
            <a:ext cx="2657310" cy="71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PreOperative Performance Enters the SOPHIE Program to Fuel Collaboration  with Ontario-Based Radiology Researchers">
            <a:extLst>
              <a:ext uri="{FF2B5EF4-FFF2-40B4-BE49-F238E27FC236}">
                <a16:creationId xmlns:a16="http://schemas.microsoft.com/office/drawing/2014/main" id="{3B022629-5AC9-F5F1-F54B-9F640BD508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64" y="3681107"/>
            <a:ext cx="2578968" cy="84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9D74CE-709F-C7D0-8D7E-FDC3A90B966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88667" y="3905515"/>
            <a:ext cx="2199506" cy="756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31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5851" y="697273"/>
            <a:ext cx="11029616" cy="5301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286" y="1457011"/>
            <a:ext cx="11305181" cy="44017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>
            <a:spLocks noChangeAspect="1"/>
          </p:cNvSpPr>
          <p:nvPr userDrawn="1"/>
        </p:nvSpPr>
        <p:spPr>
          <a:xfrm flipV="1">
            <a:off x="440286" y="653142"/>
            <a:ext cx="11309338" cy="6732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7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7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5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12" Type="http://schemas.openxmlformats.org/officeDocument/2006/relationships/image" Target="../media/image32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11" Type="http://schemas.openxmlformats.org/officeDocument/2006/relationships/image" Target="../media/image84.pn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81.png"/><Relationship Id="rId9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7" Type="http://schemas.openxmlformats.org/officeDocument/2006/relationships/image" Target="../media/image9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5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6.png"/><Relationship Id="rId7" Type="http://schemas.openxmlformats.org/officeDocument/2006/relationships/image" Target="../media/image9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397244"/>
            <a:ext cx="10993549" cy="1108771"/>
          </a:xfrm>
        </p:spPr>
        <p:txBody>
          <a:bodyPr>
            <a:normAutofit fontScale="90000"/>
          </a:bodyPr>
          <a:lstStyle/>
          <a:p>
            <a:r>
              <a:rPr lang="en-CA" sz="2800" noProof="0" dirty="0"/>
              <a:t>Keeping It Consistent: </a:t>
            </a:r>
            <a:r>
              <a:rPr lang="en-US" sz="2800" dirty="0"/>
              <a:t>ASSESSING MEASUREMENT REPRODUCIBILITY OF A NOVEL ANISOTROPIC PHANTOM FOR HIGHER ORDER DIFFUSION TENSOR MRI SEQUENCES</a:t>
            </a:r>
            <a:endParaRPr lang="en-CA" sz="2800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620316"/>
            <a:ext cx="10993546" cy="590321"/>
          </a:xfrm>
        </p:spPr>
        <p:txBody>
          <a:bodyPr>
            <a:normAutofit/>
          </a:bodyPr>
          <a:lstStyle/>
          <a:p>
            <a:r>
              <a:rPr lang="en-CA" sz="1800" noProof="0" dirty="0"/>
              <a:t>By: Lauren Stephens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72638" y="3404473"/>
            <a:ext cx="3810653" cy="1948109"/>
          </a:xfrm>
        </p:spPr>
        <p:txBody>
          <a:bodyPr/>
          <a:lstStyle/>
          <a:p>
            <a:r>
              <a:rPr lang="en-CA" noProof="0" dirty="0"/>
              <a:t>Supervisor: Dr. Michael D. Noseworthy</a:t>
            </a:r>
          </a:p>
          <a:p>
            <a:r>
              <a:rPr lang="en-CA" noProof="0" dirty="0"/>
              <a:t>Committee: Dr. Rowley and Dr. Reilly</a:t>
            </a:r>
          </a:p>
          <a:p>
            <a:endParaRPr lang="en-CA" noProof="0" dirty="0"/>
          </a:p>
          <a:p>
            <a:r>
              <a:rPr lang="en-CA" noProof="0" dirty="0" err="1"/>
              <a:t>MASc.</a:t>
            </a:r>
            <a:r>
              <a:rPr lang="en-CA" noProof="0" dirty="0"/>
              <a:t> Thesis Defense</a:t>
            </a:r>
          </a:p>
          <a:p>
            <a:r>
              <a:rPr lang="en-CA" noProof="0" dirty="0"/>
              <a:t>05/26/25</a:t>
            </a:r>
          </a:p>
        </p:txBody>
      </p:sp>
      <p:pic>
        <p:nvPicPr>
          <p:cNvPr id="1028" name="Picture 4" descr="Directions to the Imaging Research Centre (IRC) at St. Joseph's Healthcare  Hamilton">
            <a:extLst>
              <a:ext uri="{FF2B5EF4-FFF2-40B4-BE49-F238E27FC236}">
                <a16:creationId xmlns:a16="http://schemas.microsoft.com/office/drawing/2014/main" id="{0878486F-DE32-116C-CA9C-E0D4323ADD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409" y="4023404"/>
            <a:ext cx="2657310" cy="710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9E5AD8-4379-01DD-8D78-0EE169352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326021" y="3310851"/>
            <a:ext cx="609525" cy="213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134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6DFC7-B4EC-FFBE-2B86-EBDC6F658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0C66C-9AA3-6A10-FA5E-BA11DFC27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1989D-B852-87D6-4013-31FCB3C35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67" y="1688505"/>
            <a:ext cx="6585993" cy="451212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noProof="0" dirty="0"/>
              <a:t>Diffusion magnetic resonance imaging (</a:t>
            </a:r>
            <a:r>
              <a:rPr lang="en-CA" sz="2400" noProof="0" dirty="0" err="1"/>
              <a:t>dMRI</a:t>
            </a:r>
            <a:r>
              <a:rPr lang="en-CA" sz="2400" noProof="0" dirty="0"/>
              <a:t>) measures the diffusion of water molecules in biological tissues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 err="1"/>
              <a:t>dMRI</a:t>
            </a:r>
            <a:r>
              <a:rPr lang="en-CA" sz="2400" dirty="0"/>
              <a:t> is highly susceptible to issues with standardization and reproducibility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sz="2000" dirty="0"/>
              <a:t>Crossing-fibre problem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CA" sz="1800" dirty="0"/>
              <a:t>33-90% of white matter voxels contain multiple fibre populations</a:t>
            </a:r>
            <a:endParaRPr lang="en-CA" sz="2400" noProof="0" dirty="0"/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/>
              <a:t>There is a need for a robust quality assurance (QA) tool made specifically for diffusion data</a:t>
            </a:r>
            <a:endParaRPr lang="en-CA" sz="1800" noProof="0" dirty="0"/>
          </a:p>
          <a:p>
            <a:pPr marL="630000" lvl="2" indent="0">
              <a:buNone/>
            </a:pPr>
            <a:endParaRPr lang="en-CA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5A5E5-21FE-58AD-A03A-04131180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1</a:t>
            </a:fld>
            <a:endParaRPr lang="en-CA" noProof="0" dirty="0"/>
          </a:p>
        </p:txBody>
      </p:sp>
      <p:pic>
        <p:nvPicPr>
          <p:cNvPr id="11" name="Picture 10" descr="A close-up of a white circle with red arrows&#10;&#10;AI-generated content may be incorrect.">
            <a:extLst>
              <a:ext uri="{FF2B5EF4-FFF2-40B4-BE49-F238E27FC236}">
                <a16:creationId xmlns:a16="http://schemas.microsoft.com/office/drawing/2014/main" id="{6C277945-4954-F51D-9232-FADB9B01C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682" y="1466741"/>
            <a:ext cx="3486715" cy="1777902"/>
          </a:xfrm>
          <a:prstGeom prst="rect">
            <a:avLst/>
          </a:prstGeom>
        </p:spPr>
      </p:pic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F9AB382-5675-48F0-9157-A998754F6E75}"/>
              </a:ext>
            </a:extLst>
          </p:cNvPr>
          <p:cNvSpPr txBox="1">
            <a:spLocks/>
          </p:cNvSpPr>
          <p:nvPr/>
        </p:nvSpPr>
        <p:spPr>
          <a:xfrm>
            <a:off x="7472511" y="3055659"/>
            <a:ext cx="1847430" cy="3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ctr">
              <a:buNone/>
            </a:pPr>
            <a:r>
              <a:rPr lang="en-CA" sz="1200" noProof="0" dirty="0"/>
              <a:t>Isotropic diffusion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01A035D-3C2C-8DB0-61E7-4C2E50B25701}"/>
              </a:ext>
            </a:extLst>
          </p:cNvPr>
          <p:cNvSpPr txBox="1">
            <a:spLocks/>
          </p:cNvSpPr>
          <p:nvPr/>
        </p:nvSpPr>
        <p:spPr>
          <a:xfrm>
            <a:off x="9146354" y="3045973"/>
            <a:ext cx="2108721" cy="39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ctr">
              <a:buNone/>
            </a:pPr>
            <a:r>
              <a:rPr lang="en-CA" sz="1200" noProof="0" dirty="0"/>
              <a:t>Anisotropic diffusion</a:t>
            </a:r>
          </a:p>
        </p:txBody>
      </p:sp>
      <p:pic>
        <p:nvPicPr>
          <p:cNvPr id="19" name="Picture 18" descr="A group of red objects&#10;&#10;AI-generated content may be incorrect.">
            <a:extLst>
              <a:ext uri="{FF2B5EF4-FFF2-40B4-BE49-F238E27FC236}">
                <a16:creationId xmlns:a16="http://schemas.microsoft.com/office/drawing/2014/main" id="{3033EB16-A217-0F31-056F-111292238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761" y="3844169"/>
            <a:ext cx="4614863" cy="2214563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8234D2C-6841-E52B-6988-BF736618A411}"/>
              </a:ext>
            </a:extLst>
          </p:cNvPr>
          <p:cNvSpPr txBox="1">
            <a:spLocks/>
          </p:cNvSpPr>
          <p:nvPr/>
        </p:nvSpPr>
        <p:spPr>
          <a:xfrm>
            <a:off x="7594763" y="5736496"/>
            <a:ext cx="1847430" cy="3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ctr">
              <a:buNone/>
            </a:pPr>
            <a:r>
              <a:rPr lang="en-CA" sz="1200" noProof="0" dirty="0"/>
              <a:t>Linear coherent fibres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6CE4DEA9-99A1-F5D2-189B-E5FA719CD1A1}"/>
              </a:ext>
            </a:extLst>
          </p:cNvPr>
          <p:cNvSpPr txBox="1">
            <a:spLocks/>
          </p:cNvSpPr>
          <p:nvPr/>
        </p:nvSpPr>
        <p:spPr>
          <a:xfrm>
            <a:off x="9660313" y="5736496"/>
            <a:ext cx="1847430" cy="3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ctr">
              <a:buNone/>
            </a:pPr>
            <a:r>
              <a:rPr lang="en-CA" sz="1200" noProof="0" dirty="0"/>
              <a:t>Crossing fibres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90C351F-A605-40EE-19B9-A346E3161A2E}"/>
              </a:ext>
            </a:extLst>
          </p:cNvPr>
          <p:cNvCxnSpPr>
            <a:cxnSpLocks/>
          </p:cNvCxnSpPr>
          <p:nvPr/>
        </p:nvCxnSpPr>
        <p:spPr>
          <a:xfrm>
            <a:off x="7262613" y="5185564"/>
            <a:ext cx="476446" cy="533795"/>
          </a:xfrm>
          <a:prstGeom prst="straightConnector1">
            <a:avLst/>
          </a:prstGeom>
          <a:ln w="38100">
            <a:solidFill>
              <a:srgbClr val="0065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DCE26BA-6A01-FA89-A1AE-5E0BA4B9301E}"/>
              </a:ext>
            </a:extLst>
          </p:cNvPr>
          <p:cNvCxnSpPr>
            <a:cxnSpLocks/>
          </p:cNvCxnSpPr>
          <p:nvPr/>
        </p:nvCxnSpPr>
        <p:spPr>
          <a:xfrm>
            <a:off x="11500437" y="5241915"/>
            <a:ext cx="476446" cy="533795"/>
          </a:xfrm>
          <a:prstGeom prst="straightConnector1">
            <a:avLst/>
          </a:prstGeom>
          <a:ln w="38100">
            <a:solidFill>
              <a:srgbClr val="0065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7272354-F5EB-CAFF-5ACB-8A5D82D8DC9F}"/>
              </a:ext>
            </a:extLst>
          </p:cNvPr>
          <p:cNvCxnSpPr>
            <a:cxnSpLocks/>
          </p:cNvCxnSpPr>
          <p:nvPr/>
        </p:nvCxnSpPr>
        <p:spPr>
          <a:xfrm flipH="1">
            <a:off x="11443737" y="5240415"/>
            <a:ext cx="476446" cy="533795"/>
          </a:xfrm>
          <a:prstGeom prst="straightConnector1">
            <a:avLst/>
          </a:prstGeom>
          <a:ln w="38100">
            <a:solidFill>
              <a:srgbClr val="0065B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8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C7630-5808-1898-24CD-B4D54420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8CD1-4A99-08BF-754D-DC9D5446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078DB-9C7F-AE0A-D19E-68AAE6009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68" y="1688505"/>
            <a:ext cx="6643215" cy="451212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noProof="0" dirty="0" err="1"/>
              <a:t>PreOperative</a:t>
            </a:r>
            <a:r>
              <a:rPr lang="en-CA" noProof="0" dirty="0"/>
              <a:t> Performance (Toronto, ON) have developed a novel anisotropic phantom for QA of diffusion data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noProof="0" dirty="0"/>
              <a:t>Mimics the structure of white matter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noProof="0" dirty="0"/>
              <a:t>Includes anisotropic fibre bundles with complex crossing and branching structures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noProof="0" dirty="0"/>
              <a:t>Previous work has been done to validate the phantom for rank-2 tensor metrics across multiple scanner vendors [3]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CA" noProof="0" dirty="0"/>
          </a:p>
          <a:p>
            <a:pPr>
              <a:buFont typeface="Arial" panose="020B0604020202020204" pitchFamily="34" charset="0"/>
              <a:buChar char="•"/>
            </a:pPr>
            <a:endParaRPr lang="en-CA" noProof="0" dirty="0"/>
          </a:p>
          <a:p>
            <a:pPr>
              <a:buFont typeface="Arial" panose="020B0604020202020204" pitchFamily="34" charset="0"/>
              <a:buChar char="•"/>
            </a:pPr>
            <a:endParaRPr lang="en-CA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4692D-B7A9-15FC-9DA5-3AEA34AF5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2</a:t>
            </a:fld>
            <a:endParaRPr lang="en-CA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7386812-FAD7-F31A-DFB7-2BA8C10776D8}"/>
              </a:ext>
            </a:extLst>
          </p:cNvPr>
          <p:cNvGrpSpPr/>
          <p:nvPr/>
        </p:nvGrpSpPr>
        <p:grpSpPr>
          <a:xfrm>
            <a:off x="7413570" y="3944568"/>
            <a:ext cx="4460364" cy="2160247"/>
            <a:chOff x="4572000" y="2769331"/>
            <a:chExt cx="3705737" cy="143109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9A16DEF-C66E-C1CD-9EE3-1BDC4AE59A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5128" y="2769331"/>
              <a:ext cx="1602609" cy="14310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D3AF379-DF57-A972-10B4-E6FD302AF1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72000" y="2769331"/>
              <a:ext cx="2103129" cy="1431099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7120A9-975C-B1CA-6684-1551E7B63C6F}"/>
              </a:ext>
            </a:extLst>
          </p:cNvPr>
          <p:cNvGrpSpPr/>
          <p:nvPr/>
        </p:nvGrpSpPr>
        <p:grpSpPr>
          <a:xfrm>
            <a:off x="7535461" y="1910282"/>
            <a:ext cx="4214163" cy="1518718"/>
            <a:chOff x="7659002" y="4155169"/>
            <a:chExt cx="4214163" cy="1518718"/>
          </a:xfrm>
        </p:grpSpPr>
        <p:pic>
          <p:nvPicPr>
            <p:cNvPr id="7" name="Picture 6" descr="A round plastic container with white objects in it&#10;&#10;AI-generated content may be incorrect.">
              <a:extLst>
                <a:ext uri="{FF2B5EF4-FFF2-40B4-BE49-F238E27FC236}">
                  <a16:creationId xmlns:a16="http://schemas.microsoft.com/office/drawing/2014/main" id="{41E1D587-13BE-7E4E-8654-2B267A6207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94162" y="4155169"/>
              <a:ext cx="1279003" cy="1495646"/>
            </a:xfrm>
            <a:prstGeom prst="rect">
              <a:avLst/>
            </a:prstGeom>
          </p:spPr>
        </p:pic>
        <p:pic>
          <p:nvPicPr>
            <p:cNvPr id="12" name="Picture 11" descr="A round plastic container with white text&#10;&#10;AI-generated content may be incorrect.">
              <a:extLst>
                <a:ext uri="{FF2B5EF4-FFF2-40B4-BE49-F238E27FC236}">
                  <a16:creationId xmlns:a16="http://schemas.microsoft.com/office/drawing/2014/main" id="{C73EA478-F0C4-844C-1CB7-CC5C3B25746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59002" y="4155169"/>
              <a:ext cx="1388165" cy="1518718"/>
            </a:xfrm>
            <a:prstGeom prst="rect">
              <a:avLst/>
            </a:prstGeom>
          </p:spPr>
        </p:pic>
        <p:pic>
          <p:nvPicPr>
            <p:cNvPr id="14" name="Picture 13" descr="A plastic container with a yellow and white substance inside&#10;&#10;AI-generated content may be incorrect.">
              <a:extLst>
                <a:ext uri="{FF2B5EF4-FFF2-40B4-BE49-F238E27FC236}">
                  <a16:creationId xmlns:a16="http://schemas.microsoft.com/office/drawing/2014/main" id="{C27696E6-A607-ACDF-9250-C958358CC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181163" y="4155169"/>
              <a:ext cx="1279003" cy="15187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853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6BACD-C26A-CBB0-56F4-502F15A00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B246-8D4E-7A13-EBB6-D2CD2A86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87F4F-4F82-2565-C7F8-0E273C673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68" y="1688505"/>
            <a:ext cx="7277036" cy="4900981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b="1" noProof="0" dirty="0"/>
              <a:t>Diffusion Tensor Imaging (DTI)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Rank-2 tensor representation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Assumes Gaussian distribution and single fibre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noProof="0" dirty="0"/>
              <a:t>Diffusion Kurtosis Imaging (DKI)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Rank-4 tensor representation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noProof="0" dirty="0"/>
              <a:t>Assumes non-Gaussian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Constrained Spherical Deconvolution (CSD)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Spherical convolution with a single-</a:t>
            </a:r>
            <a:r>
              <a:rPr lang="en-US" dirty="0" err="1"/>
              <a:t>fibre</a:t>
            </a:r>
            <a:r>
              <a:rPr lang="en-US" dirty="0"/>
              <a:t> response function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Allows multiple fibre directions</a:t>
            </a:r>
            <a:endParaRPr lang="en-CA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31ECD-FD65-7E71-CBD9-6DB37AEC7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3</a:t>
            </a:fld>
            <a:endParaRPr lang="en-CA" noProof="0" dirty="0"/>
          </a:p>
        </p:txBody>
      </p:sp>
      <p:pic>
        <p:nvPicPr>
          <p:cNvPr id="5" name="Picture 4" descr="A white circle with arrows and a black background&#10;&#10;AI-generated content may be incorrect.">
            <a:extLst>
              <a:ext uri="{FF2B5EF4-FFF2-40B4-BE49-F238E27FC236}">
                <a16:creationId xmlns:a16="http://schemas.microsoft.com/office/drawing/2014/main" id="{21AC77B5-F2EE-A1F5-5994-BAC5A37AF8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6361" y="1784834"/>
            <a:ext cx="4175639" cy="212919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1EFC556-1F3D-E8C1-E3C6-33A791E0A51C}"/>
              </a:ext>
            </a:extLst>
          </p:cNvPr>
          <p:cNvSpPr txBox="1">
            <a:spLocks/>
          </p:cNvSpPr>
          <p:nvPr/>
        </p:nvSpPr>
        <p:spPr>
          <a:xfrm>
            <a:off x="8016361" y="3720197"/>
            <a:ext cx="1847430" cy="3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ctr">
              <a:buNone/>
            </a:pPr>
            <a:r>
              <a:rPr lang="en-CA" sz="1200" noProof="0" dirty="0"/>
              <a:t>Isotropic diffusion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7EF016D-D644-A7E3-D305-AD3FB0F224BE}"/>
              </a:ext>
            </a:extLst>
          </p:cNvPr>
          <p:cNvSpPr txBox="1">
            <a:spLocks/>
          </p:cNvSpPr>
          <p:nvPr/>
        </p:nvSpPr>
        <p:spPr>
          <a:xfrm>
            <a:off x="9908480" y="3710511"/>
            <a:ext cx="2108721" cy="397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ctr">
              <a:buNone/>
            </a:pPr>
            <a:r>
              <a:rPr lang="en-CA" sz="1200" noProof="0" dirty="0"/>
              <a:t>Anisotropic diffusion</a:t>
            </a:r>
          </a:p>
        </p:txBody>
      </p:sp>
    </p:spTree>
    <p:extLst>
      <p:ext uri="{BB962C8B-B14F-4D97-AF65-F5344CB8AC3E}">
        <p14:creationId xmlns:p14="http://schemas.microsoft.com/office/powerpoint/2010/main" val="200394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93016-7300-9B07-9F3C-2444C30C6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CB2BC-AA06-C9A9-DB6C-C85444AE5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Background</a:t>
            </a:r>
            <a:endParaRPr lang="en-CA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B2F2B-D9C1-EF1D-DB8D-863A5F933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68" y="1688505"/>
            <a:ext cx="7277036" cy="4900981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Diffusion Tensor Imaging (DTI)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Rank-2 tensor representation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Assumes Gaussian distribution and single fibre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Diffusion Kurtosis Imaging (DKI)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Rank-4 tensor representation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Assumes non-Gaussian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Constrained Spherical Deconvolution (CSD)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Spherical convolution with a single-</a:t>
            </a:r>
            <a:r>
              <a:rPr lang="en-US" dirty="0" err="1"/>
              <a:t>fibre</a:t>
            </a:r>
            <a:r>
              <a:rPr lang="en-US" dirty="0"/>
              <a:t> response function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Allows multiple fibre directions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380EE-CD17-BAD7-4633-D79555841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4</a:t>
            </a:fld>
            <a:endParaRPr lang="en-CA" noProof="0" dirty="0"/>
          </a:p>
        </p:txBody>
      </p:sp>
      <p:pic>
        <p:nvPicPr>
          <p:cNvPr id="8" name="Picture 7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CD57727E-DD19-091B-C178-B6B3A1204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529" y="1581883"/>
            <a:ext cx="2666667" cy="2000000"/>
          </a:xfrm>
          <a:prstGeom prst="rect">
            <a:avLst/>
          </a:prstGeom>
        </p:spPr>
      </p:pic>
      <p:pic>
        <p:nvPicPr>
          <p:cNvPr id="9" name="Picture 8" descr="A graph of a function&#10;&#10;AI-generated content may be incorrect.">
            <a:extLst>
              <a:ext uri="{FF2B5EF4-FFF2-40B4-BE49-F238E27FC236}">
                <a16:creationId xmlns:a16="http://schemas.microsoft.com/office/drawing/2014/main" id="{78A587F1-7D04-6784-464A-6483C210D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055" y="3793756"/>
            <a:ext cx="2986875" cy="224015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1ACB403A-115B-728B-13AC-C2DCEB696592}"/>
              </a:ext>
            </a:extLst>
          </p:cNvPr>
          <p:cNvGrpSpPr/>
          <p:nvPr/>
        </p:nvGrpSpPr>
        <p:grpSpPr>
          <a:xfrm>
            <a:off x="9590779" y="3888456"/>
            <a:ext cx="1552417" cy="600164"/>
            <a:chOff x="12403016" y="3955432"/>
            <a:chExt cx="1552417" cy="60016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330E7E-A53D-5586-9231-1F76B096D3CD}"/>
                </a:ext>
              </a:extLst>
            </p:cNvPr>
            <p:cNvSpPr/>
            <p:nvPr/>
          </p:nvSpPr>
          <p:spPr>
            <a:xfrm>
              <a:off x="12403016" y="3974123"/>
              <a:ext cx="1512277" cy="56278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B6A5558-9FFA-6665-6D5D-6120452B895C}"/>
                </a:ext>
              </a:extLst>
            </p:cNvPr>
            <p:cNvSpPr/>
            <p:nvPr/>
          </p:nvSpPr>
          <p:spPr>
            <a:xfrm flipH="1">
              <a:off x="12572488" y="4044583"/>
              <a:ext cx="83084" cy="83084"/>
            </a:xfrm>
            <a:prstGeom prst="ellipse">
              <a:avLst/>
            </a:prstGeom>
            <a:solidFill>
              <a:srgbClr val="1A80B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4C89FA8-D32F-77E4-8382-FB7AD88D35BA}"/>
                </a:ext>
              </a:extLst>
            </p:cNvPr>
            <p:cNvSpPr txBox="1"/>
            <p:nvPr/>
          </p:nvSpPr>
          <p:spPr>
            <a:xfrm>
              <a:off x="12759678" y="3955432"/>
              <a:ext cx="1195755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100" dirty="0"/>
                <a:t>Data</a:t>
              </a:r>
            </a:p>
            <a:p>
              <a:r>
                <a:rPr lang="en-CA" sz="1100" dirty="0"/>
                <a:t>“Traditional ADC”</a:t>
              </a:r>
            </a:p>
            <a:p>
              <a:r>
                <a:rPr lang="en-CA" sz="1100" dirty="0"/>
                <a:t>Kurtosis effect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9C7E86D-7C62-ABF2-CEBD-86B2E4654623}"/>
                </a:ext>
              </a:extLst>
            </p:cNvPr>
            <p:cNvCxnSpPr>
              <a:cxnSpLocks/>
            </p:cNvCxnSpPr>
            <p:nvPr/>
          </p:nvCxnSpPr>
          <p:spPr>
            <a:xfrm>
              <a:off x="12448789" y="4255514"/>
              <a:ext cx="356662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F06B3B1-E31D-2D72-7D8A-E400616D0840}"/>
                </a:ext>
              </a:extLst>
            </p:cNvPr>
            <p:cNvSpPr/>
            <p:nvPr/>
          </p:nvSpPr>
          <p:spPr>
            <a:xfrm>
              <a:off x="12448789" y="4366818"/>
              <a:ext cx="356662" cy="107046"/>
            </a:xfrm>
            <a:prstGeom prst="rect">
              <a:avLst/>
            </a:prstGeom>
            <a:solidFill>
              <a:srgbClr val="D999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60ABF3A-78E0-99D4-27CF-09B20A7D109F}"/>
              </a:ext>
            </a:extLst>
          </p:cNvPr>
          <p:cNvGrpSpPr/>
          <p:nvPr/>
        </p:nvGrpSpPr>
        <p:grpSpPr>
          <a:xfrm>
            <a:off x="9947445" y="1743000"/>
            <a:ext cx="1864997" cy="434498"/>
            <a:chOff x="11199417" y="1731176"/>
            <a:chExt cx="1864997" cy="43449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DFECB6A8-EA42-9014-0298-6471BFD64C1E}"/>
                </a:ext>
              </a:extLst>
            </p:cNvPr>
            <p:cNvGrpSpPr/>
            <p:nvPr/>
          </p:nvGrpSpPr>
          <p:grpSpPr>
            <a:xfrm>
              <a:off x="11199417" y="1731176"/>
              <a:ext cx="1864997" cy="434498"/>
              <a:chOff x="12403016" y="3955432"/>
              <a:chExt cx="1474302" cy="434498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CEBF95B-2AC2-2E40-ECD2-3ADA9CAE1B62}"/>
                  </a:ext>
                </a:extLst>
              </p:cNvPr>
              <p:cNvSpPr/>
              <p:nvPr/>
            </p:nvSpPr>
            <p:spPr>
              <a:xfrm>
                <a:off x="12403016" y="3974123"/>
                <a:ext cx="1410003" cy="41580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905BD43-52E3-A61B-ECCD-BA4C4C343818}"/>
                  </a:ext>
                </a:extLst>
              </p:cNvPr>
              <p:cNvSpPr txBox="1"/>
              <p:nvPr/>
            </p:nvSpPr>
            <p:spPr>
              <a:xfrm>
                <a:off x="12632994" y="3955432"/>
                <a:ext cx="124432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sz="1100" dirty="0"/>
                  <a:t>Positive Kurtosis (K &gt; 0)</a:t>
                </a:r>
              </a:p>
              <a:p>
                <a:r>
                  <a:rPr lang="en-CA" sz="1100" dirty="0"/>
                  <a:t>Normal (K = 0)</a:t>
                </a:r>
              </a:p>
            </p:txBody>
          </p: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CE1848F-0651-2E1D-A58E-EF60AE3AB7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48789" y="4255514"/>
                <a:ext cx="223738" cy="0"/>
              </a:xfrm>
              <a:prstGeom prst="line">
                <a:avLst/>
              </a:prstGeom>
              <a:ln w="19050">
                <a:solidFill>
                  <a:srgbClr val="1D82BC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90044B5-73C2-76FB-C109-CBC389920E66}"/>
                </a:ext>
              </a:extLst>
            </p:cNvPr>
            <p:cNvCxnSpPr>
              <a:cxnSpLocks/>
            </p:cNvCxnSpPr>
            <p:nvPr/>
          </p:nvCxnSpPr>
          <p:spPr>
            <a:xfrm>
              <a:off x="11257316" y="1873557"/>
              <a:ext cx="283029" cy="0"/>
            </a:xfrm>
            <a:prstGeom prst="line">
              <a:avLst/>
            </a:prstGeom>
            <a:ln w="19050">
              <a:solidFill>
                <a:srgbClr val="9E0000"/>
              </a:solidFill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346054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2157A-BA86-46CB-00C4-1E90C228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820B8-1C27-ACFE-7D76-6D3B7A9E4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Background</a:t>
            </a:r>
            <a:endParaRPr lang="en-CA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43393-2E2A-D2B5-63DA-ACDDFF83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5</a:t>
            </a:fld>
            <a:endParaRPr lang="en-CA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836ACB-5D94-8AB7-B89C-CB2EC668C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5804" y="4672216"/>
            <a:ext cx="3824689" cy="1299358"/>
          </a:xfrm>
          <a:prstGeom prst="rect">
            <a:avLst/>
          </a:prstGeom>
        </p:spPr>
      </p:pic>
      <p:pic>
        <p:nvPicPr>
          <p:cNvPr id="7" name="Picture 6" descr="A circular array of lines and dots&#10;&#10;AI-generated content may be incorrect.">
            <a:extLst>
              <a:ext uri="{FF2B5EF4-FFF2-40B4-BE49-F238E27FC236}">
                <a16:creationId xmlns:a16="http://schemas.microsoft.com/office/drawing/2014/main" id="{7A0A9DA3-6620-D51F-35A9-8FABB0019B2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508" t="9153" r="13936" b="8899"/>
          <a:stretch/>
        </p:blipFill>
        <p:spPr>
          <a:xfrm>
            <a:off x="8187082" y="2035547"/>
            <a:ext cx="1508616" cy="1372501"/>
          </a:xfrm>
          <a:prstGeom prst="rect">
            <a:avLst/>
          </a:prstGeom>
        </p:spPr>
      </p:pic>
      <p:pic>
        <p:nvPicPr>
          <p:cNvPr id="22" name="Picture 21" descr="A circular object with lines and dots&#10;&#10;AI-generated content may be incorrect.">
            <a:extLst>
              <a:ext uri="{FF2B5EF4-FFF2-40B4-BE49-F238E27FC236}">
                <a16:creationId xmlns:a16="http://schemas.microsoft.com/office/drawing/2014/main" id="{346017E0-C809-183C-1372-E0CE71B13E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540" t="7279" r="10507" b="4454"/>
          <a:stretch/>
        </p:blipFill>
        <p:spPr>
          <a:xfrm>
            <a:off x="10098288" y="2035546"/>
            <a:ext cx="1512519" cy="1372501"/>
          </a:xfrm>
          <a:prstGeom prst="rect">
            <a:avLst/>
          </a:prstGeom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A40900B-7830-7A93-AA76-C10E987763B4}"/>
              </a:ext>
            </a:extLst>
          </p:cNvPr>
          <p:cNvSpPr txBox="1">
            <a:spLocks/>
          </p:cNvSpPr>
          <p:nvPr/>
        </p:nvSpPr>
        <p:spPr>
          <a:xfrm>
            <a:off x="7874037" y="3383533"/>
            <a:ext cx="1938611" cy="433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ctr">
              <a:buNone/>
            </a:pPr>
            <a:r>
              <a:rPr lang="en-CA" sz="1200" noProof="0" dirty="0"/>
              <a:t>Traditional DTI imaging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DDC8AB47-C942-91B8-B544-0A393FD1F174}"/>
              </a:ext>
            </a:extLst>
          </p:cNvPr>
          <p:cNvSpPr txBox="1">
            <a:spLocks/>
          </p:cNvSpPr>
          <p:nvPr/>
        </p:nvSpPr>
        <p:spPr>
          <a:xfrm>
            <a:off x="9860882" y="3383533"/>
            <a:ext cx="1847430" cy="387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 sz="14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39700" indent="0" algn="ctr">
              <a:buNone/>
            </a:pPr>
            <a:r>
              <a:rPr lang="en-CA" sz="1200" dirty="0"/>
              <a:t>High Angular Resolution Diffusion Imaging (HARDI)</a:t>
            </a:r>
            <a:endParaRPr lang="en-CA" sz="1200" noProof="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0222143-04CB-2730-9B61-5587E5197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68" y="1688505"/>
            <a:ext cx="7277036" cy="4900981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noProof="0" dirty="0"/>
              <a:t>Diffusion Tensor Imaging (DTI)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Rank-2 tensor representation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Assumes Gaussian distribution and single fibre direction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noProof="0" dirty="0"/>
              <a:t>Diffusion Kurtosis Imaging (DKI)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Rank-4 tensor representation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noProof="0" dirty="0"/>
              <a:t>Assumes non-Gaussian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b="1" dirty="0"/>
              <a:t>Constrained Spherical Deconvolution (CSD)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Spherical convolution with a single-</a:t>
            </a:r>
            <a:r>
              <a:rPr lang="en-US" dirty="0" err="1"/>
              <a:t>fibre</a:t>
            </a:r>
            <a:r>
              <a:rPr lang="en-US" dirty="0"/>
              <a:t> response function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Allows multiple fibre directions</a:t>
            </a:r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962642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C2A1E-DEFD-5280-BFF8-5D5EF85E8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D9C3-30F5-C5B3-6992-5A0D37DD0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ED164-38EA-F9F3-2BDD-500E95C33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769" y="1688505"/>
            <a:ext cx="6194002" cy="4512127"/>
          </a:xfrm>
        </p:spPr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Phantom was imaged across 11 independent trials, with complete removal and repositioning between each scan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30 direction DTI scan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60 direction HARDI scan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90 direction HARDI scan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dirty="0"/>
              <a:t>30 direction DKI scan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 err="1"/>
              <a:t>DiPy</a:t>
            </a:r>
            <a:r>
              <a:rPr lang="en-CA" dirty="0"/>
              <a:t> Python library was used to model the data and generate scalar metric maps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Metric maps were </a:t>
            </a:r>
            <a:r>
              <a:rPr lang="en-CA" dirty="0" err="1"/>
              <a:t>coregistered</a:t>
            </a:r>
            <a:r>
              <a:rPr lang="en-CA" dirty="0"/>
              <a:t> and </a:t>
            </a:r>
            <a:r>
              <a:rPr lang="en-CA" dirty="0" err="1"/>
              <a:t>voxelwise</a:t>
            </a:r>
            <a:r>
              <a:rPr lang="en-CA" dirty="0"/>
              <a:t> data was extracted from 6 ROIs with a variety of fibre geometry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Mean, standard deviation (SD), coefficient of variation (</a:t>
            </a:r>
            <a:r>
              <a:rPr lang="en-CA" dirty="0" err="1"/>
              <a:t>CoV</a:t>
            </a:r>
            <a:r>
              <a:rPr lang="en-CA" dirty="0"/>
              <a:t>) and intraclass correlation coefficient (ICC) were calculated from the ROI data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CA" dirty="0"/>
          </a:p>
          <a:p>
            <a:pPr lvl="1">
              <a:buFont typeface="Arial" panose="020B0604020202020204" pitchFamily="34" charset="0"/>
              <a:buChar char="•"/>
            </a:pPr>
            <a:endParaRPr lang="en-CA" dirty="0"/>
          </a:p>
          <a:p>
            <a:pPr lvl="1">
              <a:buFont typeface="Arial" panose="020B0604020202020204" pitchFamily="34" charset="0"/>
              <a:buChar char="•"/>
            </a:pPr>
            <a:endParaRPr lang="en-CA" dirty="0"/>
          </a:p>
          <a:p>
            <a:pPr lvl="1">
              <a:buFont typeface="Arial" panose="020B0604020202020204" pitchFamily="34" charset="0"/>
              <a:buChar char="•"/>
            </a:pPr>
            <a:endParaRPr lang="en-CA" noProof="0" dirty="0"/>
          </a:p>
          <a:p>
            <a:pPr>
              <a:buFont typeface="Arial" panose="020B0604020202020204" pitchFamily="34" charset="0"/>
              <a:buChar char="•"/>
            </a:pPr>
            <a:endParaRPr lang="en-CA" noProof="0" dirty="0"/>
          </a:p>
          <a:p>
            <a:pPr>
              <a:buFont typeface="Arial" panose="020B0604020202020204" pitchFamily="34" charset="0"/>
              <a:buChar char="•"/>
            </a:pPr>
            <a:endParaRPr lang="en-CA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251C5-81C3-DA8D-FA3F-28DDF27EA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6</a:t>
            </a:fld>
            <a:endParaRPr lang="en-CA" noProof="0" dirty="0"/>
          </a:p>
        </p:txBody>
      </p:sp>
      <p:pic>
        <p:nvPicPr>
          <p:cNvPr id="21" name="Picture 20" descr="A collage of images of a clock&#10;&#10;AI-generated content may be incorrect.">
            <a:extLst>
              <a:ext uri="{FF2B5EF4-FFF2-40B4-BE49-F238E27FC236}">
                <a16:creationId xmlns:a16="http://schemas.microsoft.com/office/drawing/2014/main" id="{7C4E3F1A-3669-590E-970E-B6176F603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890" y="2540595"/>
            <a:ext cx="4211917" cy="280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92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3D5C2-E868-198E-A97B-EA6919AA4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92C5-D6B7-F4D3-C59F-142431743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Results: DTI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300039-A43B-58F2-2B81-6A28645E1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7</a:t>
            </a:fld>
            <a:endParaRPr lang="en-CA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B7DED3-168A-E18D-E06A-98BFA3DB9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380" y="1487426"/>
            <a:ext cx="9775239" cy="290631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BBA3246-453B-8F55-5160-D463791A0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86" y="4649981"/>
            <a:ext cx="11258135" cy="199269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Overall, high reproducibility (</a:t>
            </a:r>
            <a:r>
              <a:rPr lang="en-CA" dirty="0" err="1"/>
              <a:t>CoVs</a:t>
            </a:r>
            <a:r>
              <a:rPr lang="en-CA" dirty="0"/>
              <a:t> &lt; 10%, ICC around 0.9)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Trend shows </a:t>
            </a:r>
            <a:r>
              <a:rPr lang="en-CA" dirty="0" err="1"/>
              <a:t>CoV</a:t>
            </a:r>
            <a:r>
              <a:rPr lang="en-CA" dirty="0"/>
              <a:t> decreased and ICC increased when using HARDI acquisitions, showing advantages to using more gradient directions</a:t>
            </a:r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4119640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D8CE-B229-79B1-95AA-843588A2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D23AB-A73E-65F0-A7EB-78B31CDB9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Results: DTI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268E14-31CB-5B4C-F9B4-749005B3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8</a:t>
            </a:fld>
            <a:endParaRPr lang="en-CA" noProof="0" dirty="0"/>
          </a:p>
        </p:txBody>
      </p:sp>
      <p:pic>
        <p:nvPicPr>
          <p:cNvPr id="7" name="Picture 6" descr="A chart with different colored squares&#10;&#10;AI-generated content may be incorrect.">
            <a:extLst>
              <a:ext uri="{FF2B5EF4-FFF2-40B4-BE49-F238E27FC236}">
                <a16:creationId xmlns:a16="http://schemas.microsoft.com/office/drawing/2014/main" id="{07B5A9EA-0FAC-B075-D7F1-4783E678A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805" y="1577160"/>
            <a:ext cx="4980000" cy="2988000"/>
          </a:xfrm>
          <a:prstGeom prst="rect">
            <a:avLst/>
          </a:prstGeom>
        </p:spPr>
      </p:pic>
      <p:pic>
        <p:nvPicPr>
          <p:cNvPr id="11" name="Picture 10" descr="A chart with colored squares&#10;&#10;AI-generated content may be incorrect.">
            <a:extLst>
              <a:ext uri="{FF2B5EF4-FFF2-40B4-BE49-F238E27FC236}">
                <a16:creationId xmlns:a16="http://schemas.microsoft.com/office/drawing/2014/main" id="{651D46E8-BE2C-62AE-F422-A6D80D2995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5" y="1577160"/>
            <a:ext cx="4980000" cy="2988000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845C0C6-8630-F47A-BF5D-7802B9D7E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86" y="4806096"/>
            <a:ext cx="10777443" cy="1992693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ROI 2 has the highest FA </a:t>
            </a:r>
            <a:r>
              <a:rPr lang="en-CA" dirty="0">
                <a:sym typeface="Wingdings" panose="05000000000000000000" pitchFamily="2" charset="2"/>
              </a:rPr>
              <a:t> could be a result of narrow 30˚ intersection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noProof="0" dirty="0">
                <a:sym typeface="Wingdings" panose="05000000000000000000" pitchFamily="2" charset="2"/>
              </a:rPr>
              <a:t>ROI 4 </a:t>
            </a:r>
            <a:r>
              <a:rPr lang="en-CA" dirty="0">
                <a:sym typeface="Wingdings" panose="05000000000000000000" pitchFamily="2" charset="2"/>
              </a:rPr>
              <a:t>has the lowest AD  could be 45˚ intersection causing supressed diffusion along the principal axis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noProof="0" dirty="0">
                <a:sym typeface="Wingdings" panose="05000000000000000000" pitchFamily="2" charset="2"/>
              </a:rPr>
              <a:t>ROI 5 has the smallest </a:t>
            </a:r>
            <a:r>
              <a:rPr lang="en-CA" noProof="0" dirty="0" err="1">
                <a:sym typeface="Wingdings" panose="05000000000000000000" pitchFamily="2" charset="2"/>
              </a:rPr>
              <a:t>CoV</a:t>
            </a:r>
            <a:r>
              <a:rPr lang="en-CA" noProof="0" dirty="0">
                <a:sym typeface="Wingdings" panose="05000000000000000000" pitchFamily="2" charset="2"/>
              </a:rPr>
              <a:t>  simple linear fibre aligns well with model assumptions</a:t>
            </a:r>
            <a:endParaRPr lang="en-CA" noProof="0" dirty="0"/>
          </a:p>
        </p:txBody>
      </p:sp>
    </p:spTree>
    <p:extLst>
      <p:ext uri="{BB962C8B-B14F-4D97-AF65-F5344CB8AC3E}">
        <p14:creationId xmlns:p14="http://schemas.microsoft.com/office/powerpoint/2010/main" val="3996747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68AF6-C614-C693-582F-08D48B1E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A48F9-647F-6A19-B440-54F031CD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Results: DKI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917BD-DF92-9623-1A34-78F4B4F4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9</a:t>
            </a:fld>
            <a:endParaRPr lang="en-CA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E048F99-212D-5BF6-9A98-353D1F8D1D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86" y="4649981"/>
            <a:ext cx="11258135" cy="199269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Higher variability across DKI metrics, especially MK, AK, and 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KFA remained stable, with </a:t>
            </a:r>
            <a:r>
              <a:rPr lang="en-CA" dirty="0" err="1"/>
              <a:t>CoV</a:t>
            </a:r>
            <a:r>
              <a:rPr lang="en-CA" dirty="0"/>
              <a:t> &lt;10% and strong ICC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Despite higher </a:t>
            </a:r>
            <a:r>
              <a:rPr lang="en-CA" dirty="0" err="1"/>
              <a:t>CoV</a:t>
            </a:r>
            <a:r>
              <a:rPr lang="en-CA" dirty="0"/>
              <a:t>, ICC values suggest good scan-to-scan repeatability</a:t>
            </a:r>
            <a:endParaRPr lang="en-CA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ACC3C-D971-C91B-6194-6E756C48FA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848" y="1700198"/>
            <a:ext cx="4257010" cy="259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68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15B56-15F8-5E30-9325-B034FA29E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05399-B963-02B9-2984-BF62584E2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Results: DKI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AF1B7-0DC4-ACAF-954A-77DF49BE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10</a:t>
            </a:fld>
            <a:endParaRPr lang="en-CA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6058EDE-3495-DBF4-8E23-17DD26E88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286" y="4649981"/>
            <a:ext cx="11258135" cy="1992693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Unexpectedly, the simple linear geometry (ROI 5) had the highest </a:t>
            </a:r>
            <a:r>
              <a:rPr lang="en-CA" dirty="0" err="1"/>
              <a:t>CoVs</a:t>
            </a:r>
            <a:endParaRPr lang="en-CA" dirty="0"/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Very low kurtosis in the isotropic region, indicating that a Gaussian distribution assumption holds well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No obvious trends with fibre geometry and kurtosis metrics, meaning the relationship between fibre structure and kurtosis is more nuanced</a:t>
            </a:r>
          </a:p>
          <a:p>
            <a:pPr>
              <a:buFont typeface="Arial" panose="020B0604020202020204" pitchFamily="34" charset="0"/>
              <a:buChar char="•"/>
            </a:pPr>
            <a:endParaRPr lang="en-CA" noProof="0" dirty="0"/>
          </a:p>
        </p:txBody>
      </p:sp>
      <p:pic>
        <p:nvPicPr>
          <p:cNvPr id="6" name="Picture 5" descr="A chart with colored squares&#10;&#10;AI-generated content may be incorrect.">
            <a:extLst>
              <a:ext uri="{FF2B5EF4-FFF2-40B4-BE49-F238E27FC236}">
                <a16:creationId xmlns:a16="http://schemas.microsoft.com/office/drawing/2014/main" id="{1EEC8167-F154-A21E-E22F-0EC6B92B1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112" y="1490978"/>
            <a:ext cx="4980000" cy="2988000"/>
          </a:xfrm>
          <a:prstGeom prst="rect">
            <a:avLst/>
          </a:prstGeom>
        </p:spPr>
      </p:pic>
      <p:pic>
        <p:nvPicPr>
          <p:cNvPr id="8" name="Picture 7" descr="A chart with colored squares&#10;&#10;AI-generated content may be incorrect.">
            <a:extLst>
              <a:ext uri="{FF2B5EF4-FFF2-40B4-BE49-F238E27FC236}">
                <a16:creationId xmlns:a16="http://schemas.microsoft.com/office/drawing/2014/main" id="{EB86C3AA-C422-E738-AE8E-3964C029B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890" y="1505416"/>
            <a:ext cx="4980000" cy="29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594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7AEE-5D4E-2D6D-0813-FFEFE75F8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A7574-98A5-B5D5-3EE7-00F20BE2E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Results: CSD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5AAE6B-E76A-13FB-E3DE-F42061B9C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11</a:t>
            </a:fld>
            <a:endParaRPr lang="en-CA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8EAA74-6DCF-17EC-8B8E-A3AA5370A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3339" y="1728840"/>
            <a:ext cx="9503229" cy="1903437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737F7C3-A16C-C2CB-5729-FC5A9B3C3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885" y="4012266"/>
            <a:ext cx="11258135" cy="199269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dirty="0"/>
              <a:t>GFA reproducibility improved with higher angular resolution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CA" noProof="0" dirty="0"/>
              <a:t>ICC increased from 0.66 to 0.85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noProof="0" dirty="0" err="1"/>
              <a:t>CoV</a:t>
            </a:r>
            <a:r>
              <a:rPr lang="en-CA" noProof="0" dirty="0"/>
              <a:t> stayed relatively low across protocols</a:t>
            </a:r>
          </a:p>
        </p:txBody>
      </p:sp>
    </p:spTree>
    <p:extLst>
      <p:ext uri="{BB962C8B-B14F-4D97-AF65-F5344CB8AC3E}">
        <p14:creationId xmlns:p14="http://schemas.microsoft.com/office/powerpoint/2010/main" val="6648221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288CF-A3DB-1199-4B3D-1288B9C0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9ADBB-577D-D4C5-6345-79F2450D5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Results: CSD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67140-29E6-B833-2E34-D64C9D88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12</a:t>
            </a:fld>
            <a:endParaRPr lang="en-CA" noProof="0" dirty="0"/>
          </a:p>
        </p:txBody>
      </p:sp>
      <p:pic>
        <p:nvPicPr>
          <p:cNvPr id="7" name="Picture 6" descr="A colorful object with a black background&#10;&#10;AI-generated content may be incorrect.">
            <a:extLst>
              <a:ext uri="{FF2B5EF4-FFF2-40B4-BE49-F238E27FC236}">
                <a16:creationId xmlns:a16="http://schemas.microsoft.com/office/drawing/2014/main" id="{9CE22F95-6077-5884-8530-2B426E908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805" y="1800928"/>
            <a:ext cx="2206784" cy="1980000"/>
          </a:xfrm>
          <a:prstGeom prst="rect">
            <a:avLst/>
          </a:prstGeom>
        </p:spPr>
      </p:pic>
      <p:pic>
        <p:nvPicPr>
          <p:cNvPr id="9" name="Picture 8" descr="A colorful object with a black background&#10;&#10;AI-generated content may be incorrect.">
            <a:extLst>
              <a:ext uri="{FF2B5EF4-FFF2-40B4-BE49-F238E27FC236}">
                <a16:creationId xmlns:a16="http://schemas.microsoft.com/office/drawing/2014/main" id="{F7C9BA26-2CF8-22CA-0334-37429B675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921" y="1800928"/>
            <a:ext cx="1924067" cy="1980000"/>
          </a:xfrm>
          <a:prstGeom prst="rect">
            <a:avLst/>
          </a:prstGeom>
        </p:spPr>
      </p:pic>
      <p:pic>
        <p:nvPicPr>
          <p:cNvPr id="13" name="Picture 12" descr="A colorful flower with a black background&#10;&#10;AI-generated content may be incorrect.">
            <a:extLst>
              <a:ext uri="{FF2B5EF4-FFF2-40B4-BE49-F238E27FC236}">
                <a16:creationId xmlns:a16="http://schemas.microsoft.com/office/drawing/2014/main" id="{A989339F-E649-FE9B-2AB1-3398A904BF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7320" y="1800928"/>
            <a:ext cx="1471173" cy="1980000"/>
          </a:xfrm>
          <a:prstGeom prst="rect">
            <a:avLst/>
          </a:prstGeom>
        </p:spPr>
      </p:pic>
      <p:pic>
        <p:nvPicPr>
          <p:cNvPr id="15" name="Picture 14" descr="A colorful flower on a black background&#10;&#10;AI-generated content may be incorrect.">
            <a:extLst>
              <a:ext uri="{FF2B5EF4-FFF2-40B4-BE49-F238E27FC236}">
                <a16:creationId xmlns:a16="http://schemas.microsoft.com/office/drawing/2014/main" id="{739D12BA-447D-0AB0-93D8-0FA398302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3407" y="4102375"/>
            <a:ext cx="1771579" cy="1980000"/>
          </a:xfrm>
          <a:prstGeom prst="rect">
            <a:avLst/>
          </a:prstGeom>
        </p:spPr>
      </p:pic>
      <p:pic>
        <p:nvPicPr>
          <p:cNvPr id="17" name="Picture 16" descr="A colorful object with a black background&#10;&#10;AI-generated content may be incorrect.">
            <a:extLst>
              <a:ext uri="{FF2B5EF4-FFF2-40B4-BE49-F238E27FC236}">
                <a16:creationId xmlns:a16="http://schemas.microsoft.com/office/drawing/2014/main" id="{6552FC7E-A559-E997-BC6C-B7F8F142DC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4609" y="4102375"/>
            <a:ext cx="3580689" cy="1980000"/>
          </a:xfrm>
          <a:prstGeom prst="rect">
            <a:avLst/>
          </a:prstGeom>
        </p:spPr>
      </p:pic>
      <p:pic>
        <p:nvPicPr>
          <p:cNvPr id="19" name="Picture 18" descr="A colorful crystal like flower&#10;&#10;AI-generated content may be incorrect.">
            <a:extLst>
              <a:ext uri="{FF2B5EF4-FFF2-40B4-BE49-F238E27FC236}">
                <a16:creationId xmlns:a16="http://schemas.microsoft.com/office/drawing/2014/main" id="{E70BF4F5-0BC9-9C80-6A49-3BFE708C0D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0602" y="4102375"/>
            <a:ext cx="2244608" cy="198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8BF964C-D695-2D95-A258-3C04274916D4}"/>
              </a:ext>
            </a:extLst>
          </p:cNvPr>
          <p:cNvSpPr txBox="1"/>
          <p:nvPr/>
        </p:nvSpPr>
        <p:spPr>
          <a:xfrm>
            <a:off x="1568734" y="1397217"/>
            <a:ext cx="94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ROI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DA7930-3CC2-514F-DC64-ECC89A0F0E51}"/>
              </a:ext>
            </a:extLst>
          </p:cNvPr>
          <p:cNvSpPr txBox="1"/>
          <p:nvPr/>
        </p:nvSpPr>
        <p:spPr>
          <a:xfrm>
            <a:off x="5624491" y="1431596"/>
            <a:ext cx="94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ROI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61320DC-A22D-A5FE-271E-2BE9CC360BE8}"/>
              </a:ext>
            </a:extLst>
          </p:cNvPr>
          <p:cNvSpPr txBox="1"/>
          <p:nvPr/>
        </p:nvSpPr>
        <p:spPr>
          <a:xfrm>
            <a:off x="9312444" y="1431596"/>
            <a:ext cx="94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ROI 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C96885-5176-0AC5-282D-FC301B0ABB57}"/>
              </a:ext>
            </a:extLst>
          </p:cNvPr>
          <p:cNvSpPr txBox="1"/>
          <p:nvPr/>
        </p:nvSpPr>
        <p:spPr>
          <a:xfrm>
            <a:off x="1568733" y="6101767"/>
            <a:ext cx="94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ROI 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C85A1F-631F-A4BB-2A0E-63928AED79A2}"/>
              </a:ext>
            </a:extLst>
          </p:cNvPr>
          <p:cNvSpPr txBox="1"/>
          <p:nvPr/>
        </p:nvSpPr>
        <p:spPr>
          <a:xfrm>
            <a:off x="5624491" y="6165120"/>
            <a:ext cx="94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ROI 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5CBC4C-950D-28B9-ED97-6A53B7024BC7}"/>
              </a:ext>
            </a:extLst>
          </p:cNvPr>
          <p:cNvSpPr txBox="1"/>
          <p:nvPr/>
        </p:nvSpPr>
        <p:spPr>
          <a:xfrm>
            <a:off x="9312444" y="6163132"/>
            <a:ext cx="940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ROI 6</a:t>
            </a:r>
          </a:p>
        </p:txBody>
      </p:sp>
    </p:spTree>
    <p:extLst>
      <p:ext uri="{BB962C8B-B14F-4D97-AF65-F5344CB8AC3E}">
        <p14:creationId xmlns:p14="http://schemas.microsoft.com/office/powerpoint/2010/main" val="38402355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CD3EE-4E88-EE0D-F262-39605F1D4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9970A-BD55-A04A-8E51-CEE7FD58B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Discussion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05FD9-DA98-9149-4390-58E097A4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13</a:t>
            </a:fld>
            <a:endParaRPr lang="en-CA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3F491-A12E-C549-F70D-8DCEF3BC3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681" y="1688505"/>
            <a:ext cx="10946547" cy="451212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These results highlight that model reproducibility and scalar metric variance is fundamentally linked to </a:t>
            </a:r>
            <a:r>
              <a:rPr lang="en-US" sz="2400" dirty="0" err="1"/>
              <a:t>fibre</a:t>
            </a:r>
            <a:r>
              <a:rPr lang="en-US" sz="2400" dirty="0"/>
              <a:t> geometry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Future repeatability studies should aim to include complex </a:t>
            </a:r>
            <a:r>
              <a:rPr lang="en-US" sz="2000" dirty="0" err="1"/>
              <a:t>fibre</a:t>
            </a:r>
            <a:r>
              <a:rPr lang="en-US" sz="2000" dirty="0"/>
              <a:t> geometry in their analysis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Diffusion kurtosis metrics suffer from high variability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This may be due to high b-value acquisitions involving more signal loss and lower SNR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CSD is able to differentiate crossing and branching </a:t>
            </a:r>
            <a:r>
              <a:rPr lang="en-US" sz="2400" dirty="0" err="1"/>
              <a:t>fibres</a:t>
            </a:r>
            <a:r>
              <a:rPr lang="en-US" sz="2400" dirty="0"/>
              <a:t> in the phantom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30˚ </a:t>
            </a:r>
            <a:r>
              <a:rPr lang="en-US" sz="2000" dirty="0" err="1"/>
              <a:t>fibre</a:t>
            </a:r>
            <a:r>
              <a:rPr lang="en-US" sz="2000" dirty="0"/>
              <a:t> not resolved </a:t>
            </a:r>
            <a:r>
              <a:rPr lang="en-US" sz="2000" dirty="0">
                <a:sym typeface="Wingdings" panose="05000000000000000000" pitchFamily="2" charset="2"/>
              </a:rPr>
              <a:t> could potentially increase number of gradient directions, b-value, or increase </a:t>
            </a:r>
            <a:r>
              <a:rPr lang="en-US" sz="2000" dirty="0" err="1">
                <a:sym typeface="Wingdings" panose="05000000000000000000" pitchFamily="2" charset="2"/>
              </a:rPr>
              <a:t>l</a:t>
            </a:r>
            <a:r>
              <a:rPr lang="en-US" sz="2000" baseline="-25000" dirty="0" err="1">
                <a:sym typeface="Wingdings" panose="05000000000000000000" pitchFamily="2" charset="2"/>
              </a:rPr>
              <a:t>max</a:t>
            </a:r>
            <a:endParaRPr lang="en-US" sz="2000" baseline="-25000" dirty="0"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sym typeface="Wingdings" panose="05000000000000000000" pitchFamily="2" charset="2"/>
              </a:rPr>
              <a:t>PreOperative</a:t>
            </a:r>
            <a:r>
              <a:rPr lang="en-US" sz="2400" dirty="0">
                <a:sym typeface="Wingdings" panose="05000000000000000000" pitchFamily="2" charset="2"/>
              </a:rPr>
              <a:t> Performance phantom is a reliable and effective tool for both traditional DTI and higher order diffusion tensor MRI sequences</a:t>
            </a: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45605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D5192-E234-029A-89FA-1A17927531E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6538" y="58738"/>
            <a:ext cx="525462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D15F9C-0D7C-CCDE-DC93-0F6EF86DE2AA}"/>
              </a:ext>
            </a:extLst>
          </p:cNvPr>
          <p:cNvSpPr txBox="1"/>
          <p:nvPr/>
        </p:nvSpPr>
        <p:spPr>
          <a:xfrm>
            <a:off x="3409950" y="3013501"/>
            <a:ext cx="5372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80410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9A094-E588-B97A-C085-8AEAB692C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FA26F-A98C-4DBC-97DB-D7D9DEC6AE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66538" y="58738"/>
            <a:ext cx="525462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EC63C4-EFDC-5903-92C5-B96AFB964D16}"/>
              </a:ext>
            </a:extLst>
          </p:cNvPr>
          <p:cNvSpPr txBox="1"/>
          <p:nvPr/>
        </p:nvSpPr>
        <p:spPr>
          <a:xfrm>
            <a:off x="3409950" y="3013501"/>
            <a:ext cx="5372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/>
              <a:t>Thank you!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5F7FFE-57C1-DB6B-19CF-C975DD32EAF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5251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4507B-902F-05D9-91A0-9B8C41620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DWI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3AA39-5D15-0431-F058-DAF6393AE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DE5E01-B598-0413-B1E2-C23E18B91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6" y="1738078"/>
            <a:ext cx="4162416" cy="18634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0E59AF-C7A3-B145-F654-8E7A7605F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583" y="1581883"/>
            <a:ext cx="2420729" cy="7324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B5D66B-5122-0C3A-1FE9-A606C6331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583" y="2163414"/>
            <a:ext cx="3188324" cy="10811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943393B-70F9-D036-4712-A53FFC9DD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5773" y="1581883"/>
            <a:ext cx="1975779" cy="78320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AC28DD-062A-7A71-C380-13CF81A37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6786" y="2316973"/>
            <a:ext cx="3605214" cy="1049058"/>
          </a:xfrm>
          <a:prstGeom prst="rect">
            <a:avLst/>
          </a:prstGeom>
        </p:spPr>
      </p:pic>
      <p:pic>
        <p:nvPicPr>
          <p:cNvPr id="16" name="Picture 15" descr="A red and blue squares on a black background&#10;&#10;AI-generated content may be incorrect.">
            <a:extLst>
              <a:ext uri="{FF2B5EF4-FFF2-40B4-BE49-F238E27FC236}">
                <a16:creationId xmlns:a16="http://schemas.microsoft.com/office/drawing/2014/main" id="{A7D79349-1685-8281-5D19-C3B024320E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756" y="3601534"/>
            <a:ext cx="6755015" cy="2708661"/>
          </a:xfrm>
          <a:prstGeom prst="rect">
            <a:avLst/>
          </a:prstGeom>
        </p:spPr>
      </p:pic>
      <p:grpSp>
        <p:nvGrpSpPr>
          <p:cNvPr id="17" name="Group 3">
            <a:extLst>
              <a:ext uri="{FF2B5EF4-FFF2-40B4-BE49-F238E27FC236}">
                <a16:creationId xmlns:a16="http://schemas.microsoft.com/office/drawing/2014/main" id="{2CB059E6-1F2D-7432-7DBF-E840CEC139DC}"/>
              </a:ext>
            </a:extLst>
          </p:cNvPr>
          <p:cNvGrpSpPr>
            <a:grpSpLocks/>
          </p:cNvGrpSpPr>
          <p:nvPr/>
        </p:nvGrpSpPr>
        <p:grpSpPr bwMode="auto">
          <a:xfrm>
            <a:off x="630672" y="3998030"/>
            <a:ext cx="4673084" cy="2202601"/>
            <a:chOff x="790" y="2448"/>
            <a:chExt cx="3792" cy="1719"/>
          </a:xfrm>
        </p:grpSpPr>
        <p:sp>
          <p:nvSpPr>
            <p:cNvPr id="18" name="Line 4">
              <a:extLst>
                <a:ext uri="{FF2B5EF4-FFF2-40B4-BE49-F238E27FC236}">
                  <a16:creationId xmlns:a16="http://schemas.microsoft.com/office/drawing/2014/main" id="{6AC48322-CE7A-0688-8BB6-17A4417ADB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2448"/>
              <a:ext cx="0" cy="139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Osaka" charset="0"/>
                <a:cs typeface="Arial" charset="0"/>
              </a:endParaRPr>
            </a:p>
          </p:txBody>
        </p:sp>
        <p:sp>
          <p:nvSpPr>
            <p:cNvPr id="19" name="Line 5">
              <a:extLst>
                <a:ext uri="{FF2B5EF4-FFF2-40B4-BE49-F238E27FC236}">
                  <a16:creationId xmlns:a16="http://schemas.microsoft.com/office/drawing/2014/main" id="{BCC12500-E107-0E2A-65C4-F80DE2082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0" y="3840"/>
              <a:ext cx="182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Osaka" charset="0"/>
                <a:cs typeface="Arial" charset="0"/>
              </a:endParaRPr>
            </a:p>
          </p:txBody>
        </p:sp>
        <p:sp>
          <p:nvSpPr>
            <p:cNvPr id="20" name="Text Box 6">
              <a:extLst>
                <a:ext uri="{FF2B5EF4-FFF2-40B4-BE49-F238E27FC236}">
                  <a16:creationId xmlns:a16="http://schemas.microsoft.com/office/drawing/2014/main" id="{8C5BF70A-06DC-AF6E-6E6A-C59228E15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936"/>
              <a:ext cx="769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Osaka" charset="0"/>
                  <a:cs typeface="Arial" charset="0"/>
                </a:rPr>
                <a:t>b (s/mm</a:t>
              </a:r>
              <a:r>
                <a:rPr kumimoji="0" lang="en-US" sz="1800" b="1" i="0" u="none" strike="noStrike" kern="1200" cap="none" spc="0" normalizeH="0" baseline="30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Osaka" charset="0"/>
                  <a:cs typeface="Arial" charset="0"/>
                </a:rPr>
                <a:t>2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Osaka" charset="0"/>
                  <a:cs typeface="Arial" charset="0"/>
                </a:rPr>
                <a:t>)</a:t>
              </a:r>
            </a:p>
          </p:txBody>
        </p:sp>
        <p:sp>
          <p:nvSpPr>
            <p:cNvPr id="21" name="Text Box 7">
              <a:extLst>
                <a:ext uri="{FF2B5EF4-FFF2-40B4-BE49-F238E27FC236}">
                  <a16:creationId xmlns:a16="http://schemas.microsoft.com/office/drawing/2014/main" id="{6A59901C-1EC7-E791-0E97-0F4E652E98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442" y="3156"/>
              <a:ext cx="995" cy="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Osaka" charset="0"/>
                  <a:cs typeface="Arial" charset="0"/>
                </a:rPr>
                <a:t>ln (signal)</a:t>
              </a:r>
            </a:p>
          </p:txBody>
        </p:sp>
        <p:sp>
          <p:nvSpPr>
            <p:cNvPr id="22" name="Line 8">
              <a:extLst>
                <a:ext uri="{FF2B5EF4-FFF2-40B4-BE49-F238E27FC236}">
                  <a16:creationId xmlns:a16="http://schemas.microsoft.com/office/drawing/2014/main" id="{8BA6947D-369B-2CD5-93A7-A9B924511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6" y="2670"/>
              <a:ext cx="1477" cy="833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Osaka" charset="0"/>
                <a:cs typeface="Arial" charset="0"/>
              </a:endParaRPr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85FE0CE0-E584-A632-EF42-F769FF8E6A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2928"/>
              <a:ext cx="48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Osaka" charset="0"/>
                <a:cs typeface="Arial" charset="0"/>
              </a:endParaRPr>
            </a:p>
          </p:txBody>
        </p:sp>
        <p:sp>
          <p:nvSpPr>
            <p:cNvPr id="24" name="Text Box 10">
              <a:extLst>
                <a:ext uri="{FF2B5EF4-FFF2-40B4-BE49-F238E27FC236}">
                  <a16:creationId xmlns:a16="http://schemas.microsoft.com/office/drawing/2014/main" id="{67522F26-99CC-08F7-CCA2-EC0BBFE907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8" y="2647"/>
              <a:ext cx="16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Osaka" charset="0"/>
                  <a:cs typeface="Arial" charset="0"/>
                </a:rPr>
                <a:t>slope = D </a:t>
              </a:r>
              <a:r>
                <a:rPr kumimoji="0" lang="en-US" sz="180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Osaka" charset="0"/>
                  <a:cs typeface="Arial" charset="0"/>
                </a:rPr>
                <a:t>or </a:t>
              </a: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Osaka" charset="0"/>
                  <a:cs typeface="Arial" charset="0"/>
                </a:rPr>
                <a:t>ADC</a:t>
              </a:r>
            </a:p>
          </p:txBody>
        </p:sp>
        <p:sp>
          <p:nvSpPr>
            <p:cNvPr id="25" name="Text Box 11">
              <a:extLst>
                <a:ext uri="{FF2B5EF4-FFF2-40B4-BE49-F238E27FC236}">
                  <a16:creationId xmlns:a16="http://schemas.microsoft.com/office/drawing/2014/main" id="{2E205DED-5E3A-144E-0FE4-C8E6D4BF3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475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Osaka" charset="0"/>
                  <a:cs typeface="Arial" charset="0"/>
                </a:rPr>
                <a:t>x</a:t>
              </a:r>
            </a:p>
          </p:txBody>
        </p:sp>
        <p:sp>
          <p:nvSpPr>
            <p:cNvPr id="26" name="Text Box 12">
              <a:extLst>
                <a:ext uri="{FF2B5EF4-FFF2-40B4-BE49-F238E27FC236}">
                  <a16:creationId xmlns:a16="http://schemas.microsoft.com/office/drawing/2014/main" id="{4132F8B5-E27E-ECA1-F0C8-7A3289B057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356"/>
              <a:ext cx="196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Osaka" charset="0"/>
                  <a:cs typeface="Arial" charset="0"/>
                </a:rPr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2131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21D2D-468A-A8C0-8658-0696ACE4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8FAD4-80E5-20AD-D695-6D56BC20F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DTI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F66BD-B5D0-237D-05FB-724EE57CA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BED32F-1A2A-7221-D7F6-59880759F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6" y="1501735"/>
            <a:ext cx="2584543" cy="17106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4AC0D6-CD0B-6C06-AF0E-B09A13A41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559" y="5496838"/>
            <a:ext cx="3698415" cy="10963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875F13B-BAD2-7032-274B-49C496CE3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8690" y="3365239"/>
            <a:ext cx="4282279" cy="204885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0214A7E-519E-D879-B641-1E5726802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1530" y="1597572"/>
            <a:ext cx="2035482" cy="7594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511E073-A9EC-031C-1052-CBAB688F69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744" y="4257996"/>
            <a:ext cx="1793396" cy="69148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248DA33-B257-AA06-272B-1F950ABFFC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0704" y="4878804"/>
            <a:ext cx="3722914" cy="137750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4638595-D715-58C5-17C8-5DE921D809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3714" y="1319868"/>
            <a:ext cx="5878286" cy="11257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74BB012-8E5B-F2D7-E5EC-E715E51880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9289" y="2425646"/>
            <a:ext cx="2989882" cy="83398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CAD8B28-4ED6-695A-FA92-9D74E36F27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5983" y="3332894"/>
            <a:ext cx="1697286" cy="67035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F68C32B-B2C1-0F5A-4FBB-4EB3CE1F8D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2910" y="3134004"/>
            <a:ext cx="2663298" cy="11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065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41C99-F49C-B776-FFA0-FD88EF6FC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9AB4-8B99-FB35-8B5A-28CEE7C74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DKI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4D752-A815-E321-013E-1A8B72FE1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F78B2-4EFD-0F0B-666B-DCE2FC56B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6" y="1581883"/>
            <a:ext cx="5462577" cy="9698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000228-A464-8FB8-6E58-42F2544B90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03" y="2618900"/>
            <a:ext cx="3139059" cy="6468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8E3425-34DB-9238-1800-D3BBFFBA1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31" y="3121341"/>
            <a:ext cx="2312944" cy="7497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E03F088-F10C-B737-E2DB-F08FFFFAA0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627" y="5364776"/>
            <a:ext cx="5902863" cy="13415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2B6524-254B-A198-5893-895BE03E7A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0286" y="3975558"/>
            <a:ext cx="4480949" cy="130055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0C1DE73-09AB-7968-12AF-3D759D4A09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235" y="3959513"/>
            <a:ext cx="3139059" cy="13609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821FD2A-0959-4F93-117B-F665031831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0294" y="1465993"/>
            <a:ext cx="3475172" cy="120158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AD9E454-43A0-4D46-7339-2C9AFBF3C2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8350" y="2577629"/>
            <a:ext cx="3139060" cy="102615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AF31E4B-9E03-1875-3D93-28C36FBCBD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64386" y="3604996"/>
            <a:ext cx="1875322" cy="6748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0F6295A-17E3-D9D6-EBD8-8716A1F267E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10565" y="4190423"/>
            <a:ext cx="3139059" cy="96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3691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75181-C69D-ACED-B176-AFE3E3DD7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1CDB3-6AEA-C223-9EC1-F941BDEBF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CSD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A5053-B5A1-5ACA-05EC-9D938340C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63FF5D-4E50-2AA8-B336-97D42E0F3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6" y="1581883"/>
            <a:ext cx="4275989" cy="91433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7B4D20-D7C6-EF90-4CB1-FD105707E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86" y="2850870"/>
            <a:ext cx="4533451" cy="11562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7BB769E-2BC4-EA23-BBDC-E167EABAD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24" y="4152342"/>
            <a:ext cx="4533452" cy="11237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A215433-65C3-3C04-E01C-097AE008E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924" y="5276117"/>
            <a:ext cx="2937620" cy="116901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AE43835-671A-4A33-231A-560C716CFF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04296" y="5421330"/>
            <a:ext cx="2269290" cy="88309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469721-1751-5BCB-59B7-F11F508CAFC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6826" y="1446244"/>
            <a:ext cx="2682876" cy="104997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2154830-3F85-5B51-7D03-0396EC8F61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4737" y="2593611"/>
            <a:ext cx="1487055" cy="300445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6D42EA5-6633-4576-C5A4-D496355A1A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833" y="1608860"/>
            <a:ext cx="2510974" cy="72474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863CEB4-E7E5-B577-204E-0E36985E66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27475" y="2247870"/>
            <a:ext cx="3055690" cy="69148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787C24F-593B-5D3C-8B08-25DDE3B725A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2651" y="2972612"/>
            <a:ext cx="3040514" cy="62598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E369DD3-ADA5-C310-C2FB-AD400F54C3B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59702" y="4357302"/>
            <a:ext cx="3284765" cy="12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6389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0B413-A70B-51C6-1D1B-2001D9F2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58289-159E-2222-841A-EA05E8B57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CSD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CBCD5-88C6-6A53-33B6-C7E5D10F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2050" name="Picture 2" descr="4: Spherical deconvolution with a maximum SH order of eight used to... |  Download Scientific Diagram">
            <a:extLst>
              <a:ext uri="{FF2B5EF4-FFF2-40B4-BE49-F238E27FC236}">
                <a16:creationId xmlns:a16="http://schemas.microsoft.com/office/drawing/2014/main" id="{B20F6A79-44D0-3CA2-BF95-BAD1BFD3D1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286" y="1707696"/>
            <a:ext cx="5655714" cy="2222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2A97A7-BAB6-7432-38BB-DD805D6E6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3910" y="1581883"/>
            <a:ext cx="5655714" cy="435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49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3A023-78DE-A504-DFFA-2FA53F929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05CB-7F4A-CF77-38ED-A07C7AE6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noProof="0" dirty="0"/>
              <a:t>Scanner Parameters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C8B5E-4CF0-1931-D33E-23A16E9E2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CA" noProof="0" smtClean="0"/>
              <a:pPr/>
              <a:t>21</a:t>
            </a:fld>
            <a:endParaRPr lang="en-CA" noProof="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DA50727-D2FB-B7EE-151D-B562A88B1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66559"/>
              </p:ext>
            </p:extLst>
          </p:nvPr>
        </p:nvGraphicFramePr>
        <p:xfrm>
          <a:off x="525851" y="1581884"/>
          <a:ext cx="11138208" cy="43926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963">
                  <a:extLst>
                    <a:ext uri="{9D8B030D-6E8A-4147-A177-3AD203B41FA5}">
                      <a16:colId xmlns:a16="http://schemas.microsoft.com/office/drawing/2014/main" val="2106634583"/>
                    </a:ext>
                  </a:extLst>
                </a:gridCol>
                <a:gridCol w="1530589">
                  <a:extLst>
                    <a:ext uri="{9D8B030D-6E8A-4147-A177-3AD203B41FA5}">
                      <a16:colId xmlns:a16="http://schemas.microsoft.com/office/drawing/2014/main" val="1658909654"/>
                    </a:ext>
                  </a:extLst>
                </a:gridCol>
                <a:gridCol w="1392276">
                  <a:extLst>
                    <a:ext uri="{9D8B030D-6E8A-4147-A177-3AD203B41FA5}">
                      <a16:colId xmlns:a16="http://schemas.microsoft.com/office/drawing/2014/main" val="2491264129"/>
                    </a:ext>
                  </a:extLst>
                </a:gridCol>
                <a:gridCol w="1392276">
                  <a:extLst>
                    <a:ext uri="{9D8B030D-6E8A-4147-A177-3AD203B41FA5}">
                      <a16:colId xmlns:a16="http://schemas.microsoft.com/office/drawing/2014/main" val="2242645138"/>
                    </a:ext>
                  </a:extLst>
                </a:gridCol>
                <a:gridCol w="1392276">
                  <a:extLst>
                    <a:ext uri="{9D8B030D-6E8A-4147-A177-3AD203B41FA5}">
                      <a16:colId xmlns:a16="http://schemas.microsoft.com/office/drawing/2014/main" val="309858574"/>
                    </a:ext>
                  </a:extLst>
                </a:gridCol>
                <a:gridCol w="1392276">
                  <a:extLst>
                    <a:ext uri="{9D8B030D-6E8A-4147-A177-3AD203B41FA5}">
                      <a16:colId xmlns:a16="http://schemas.microsoft.com/office/drawing/2014/main" val="3666954062"/>
                    </a:ext>
                  </a:extLst>
                </a:gridCol>
                <a:gridCol w="1392276">
                  <a:extLst>
                    <a:ext uri="{9D8B030D-6E8A-4147-A177-3AD203B41FA5}">
                      <a16:colId xmlns:a16="http://schemas.microsoft.com/office/drawing/2014/main" val="1573439122"/>
                    </a:ext>
                  </a:extLst>
                </a:gridCol>
                <a:gridCol w="1392276">
                  <a:extLst>
                    <a:ext uri="{9D8B030D-6E8A-4147-A177-3AD203B41FA5}">
                      <a16:colId xmlns:a16="http://schemas.microsoft.com/office/drawing/2014/main" val="2072756813"/>
                    </a:ext>
                  </a:extLst>
                </a:gridCol>
              </a:tblGrid>
              <a:tr h="62543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Scan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Directions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B-values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TR/TE (</a:t>
                      </a:r>
                      <a:r>
                        <a:rPr lang="en-CA" dirty="0" err="1"/>
                        <a:t>ms</a:t>
                      </a:r>
                      <a:r>
                        <a:rPr lang="en-CA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Flip angle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Voxel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Slices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Scan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330500"/>
                  </a:ext>
                </a:extLst>
              </a:tr>
              <a:tr h="62543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T1w FSPGR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800" dirty="0"/>
                        <a:t>–</a:t>
                      </a:r>
                      <a:endParaRPr lang="en-CA" sz="2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2800" dirty="0"/>
                        <a:t>–</a:t>
                      </a:r>
                      <a:endParaRPr lang="en-CA" sz="28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7.94/3.07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12˚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1.0 iso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4:37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266828"/>
                  </a:ext>
                </a:extLst>
              </a:tr>
              <a:tr h="62543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PROPELLER DWI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0, 1000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11000/58.15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110˚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2.5 iso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4:57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789756"/>
                  </a:ext>
                </a:extLst>
              </a:tr>
              <a:tr h="62543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DTI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0, 1000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7000/58.1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90˚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2.5 iso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4:05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3759306"/>
                  </a:ext>
                </a:extLst>
              </a:tr>
              <a:tr h="62543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HARDI-60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0, 1300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7000/61.6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90˚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2.5 iso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7:35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326054"/>
                  </a:ext>
                </a:extLst>
              </a:tr>
              <a:tr h="62543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HARDI-90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0, 1300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7000/61.6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90˚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2.5 iso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11:05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250856"/>
                  </a:ext>
                </a:extLst>
              </a:tr>
              <a:tr h="625435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DKI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0, 250-3000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8000/75.1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90˚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dirty="0"/>
                        <a:t>2.5 iso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32:40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1841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67109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E7C0D-B1C9-CDDC-BDB6-24605474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Figures From Thesis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CED84-22BA-D2EC-E04D-8C13DC45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6" name="Picture 5" descr="A close-up of a white circle with red arrows&#10;&#10;AI-generated content may be incorrect.">
            <a:extLst>
              <a:ext uri="{FF2B5EF4-FFF2-40B4-BE49-F238E27FC236}">
                <a16:creationId xmlns:a16="http://schemas.microsoft.com/office/drawing/2014/main" id="{25F8790A-A9F6-B683-B1A2-BD546C7FF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86" y="1514157"/>
            <a:ext cx="3605213" cy="1838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9E8E59-1BA0-EDA2-71D4-BCE019BE8D85}"/>
              </a:ext>
            </a:extLst>
          </p:cNvPr>
          <p:cNvSpPr txBox="1"/>
          <p:nvPr/>
        </p:nvSpPr>
        <p:spPr>
          <a:xfrm>
            <a:off x="1518743" y="3167816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2.1</a:t>
            </a:r>
          </a:p>
        </p:txBody>
      </p:sp>
      <p:pic>
        <p:nvPicPr>
          <p:cNvPr id="9" name="Picture 8" descr="A red and blue squares on a black background&#10;&#10;AI-generated content may be incorrect.">
            <a:extLst>
              <a:ext uri="{FF2B5EF4-FFF2-40B4-BE49-F238E27FC236}">
                <a16:creationId xmlns:a16="http://schemas.microsoft.com/office/drawing/2014/main" id="{11EAF3B2-9674-30E3-0BE3-42FC4D360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955" y="1348851"/>
            <a:ext cx="6315022" cy="25322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9C8691-FE8A-944A-EFB9-85CD22895C37}"/>
              </a:ext>
            </a:extLst>
          </p:cNvPr>
          <p:cNvSpPr txBox="1"/>
          <p:nvPr/>
        </p:nvSpPr>
        <p:spPr>
          <a:xfrm>
            <a:off x="7557316" y="3511750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2.2</a:t>
            </a:r>
          </a:p>
        </p:txBody>
      </p:sp>
      <p:pic>
        <p:nvPicPr>
          <p:cNvPr id="12" name="Picture 11" descr="A diagram of a propeller and a diagram of a propeller&#10;&#10;AI-generated content may be incorrect.">
            <a:extLst>
              <a:ext uri="{FF2B5EF4-FFF2-40B4-BE49-F238E27FC236}">
                <a16:creationId xmlns:a16="http://schemas.microsoft.com/office/drawing/2014/main" id="{690E63DE-B26A-EAAE-8621-8ACC8D199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287" y="4180981"/>
            <a:ext cx="3605214" cy="20196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DEEB64-5614-0C18-6C38-C87182ED250E}"/>
              </a:ext>
            </a:extLst>
          </p:cNvPr>
          <p:cNvSpPr txBox="1"/>
          <p:nvPr/>
        </p:nvSpPr>
        <p:spPr>
          <a:xfrm>
            <a:off x="1518743" y="6200632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2.3</a:t>
            </a:r>
          </a:p>
        </p:txBody>
      </p:sp>
      <p:pic>
        <p:nvPicPr>
          <p:cNvPr id="15" name="Picture 14" descr="A diagram of a normal distribution&#10;&#10;AI-generated content may be incorrect.">
            <a:extLst>
              <a:ext uri="{FF2B5EF4-FFF2-40B4-BE49-F238E27FC236}">
                <a16:creationId xmlns:a16="http://schemas.microsoft.com/office/drawing/2014/main" id="{58644FAA-686D-8392-EB0F-707EC70DA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8214" y="4004886"/>
            <a:ext cx="2775259" cy="2081444"/>
          </a:xfrm>
          <a:prstGeom prst="rect">
            <a:avLst/>
          </a:prstGeom>
        </p:spPr>
      </p:pic>
      <p:pic>
        <p:nvPicPr>
          <p:cNvPr id="17" name="Picture 16" descr="A graph of a function&#10;&#10;AI-generated content may be incorrect.">
            <a:extLst>
              <a:ext uri="{FF2B5EF4-FFF2-40B4-BE49-F238E27FC236}">
                <a16:creationId xmlns:a16="http://schemas.microsoft.com/office/drawing/2014/main" id="{1F3993CE-ED22-9CA8-CD3C-9F2D0728B9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473" y="4004886"/>
            <a:ext cx="2775259" cy="208144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0CBE7C-E67D-7C4B-A615-3C80ABCD866A}"/>
              </a:ext>
            </a:extLst>
          </p:cNvPr>
          <p:cNvSpPr txBox="1"/>
          <p:nvPr/>
        </p:nvSpPr>
        <p:spPr>
          <a:xfrm>
            <a:off x="7557316" y="6200632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2.4</a:t>
            </a:r>
          </a:p>
        </p:txBody>
      </p:sp>
    </p:spTree>
    <p:extLst>
      <p:ext uri="{BB962C8B-B14F-4D97-AF65-F5344CB8AC3E}">
        <p14:creationId xmlns:p14="http://schemas.microsoft.com/office/powerpoint/2010/main" val="13524802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92C16-1895-7A25-07C8-D53C6BC47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053F-A901-E7E0-05E4-4E6E5BE6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Figures From Thesis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4C004-7B3F-956D-BFB2-52B31F368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0CDEA2-DC33-7491-080A-5BCE57D7E068}"/>
              </a:ext>
            </a:extLst>
          </p:cNvPr>
          <p:cNvSpPr txBox="1"/>
          <p:nvPr/>
        </p:nvSpPr>
        <p:spPr>
          <a:xfrm>
            <a:off x="5370804" y="3505519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2.5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C4750E-1D18-0656-3EFA-9C5BFD45A4AC}"/>
              </a:ext>
            </a:extLst>
          </p:cNvPr>
          <p:cNvSpPr txBox="1"/>
          <p:nvPr/>
        </p:nvSpPr>
        <p:spPr>
          <a:xfrm>
            <a:off x="2245254" y="6015966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4.1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3C3D6F-7B6F-943D-4512-6FECA40AE619}"/>
              </a:ext>
            </a:extLst>
          </p:cNvPr>
          <p:cNvSpPr txBox="1"/>
          <p:nvPr/>
        </p:nvSpPr>
        <p:spPr>
          <a:xfrm>
            <a:off x="8197873" y="5958861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4.2</a:t>
            </a:r>
          </a:p>
        </p:txBody>
      </p:sp>
      <p:pic>
        <p:nvPicPr>
          <p:cNvPr id="5" name="Picture 4" descr="A black and white image of a cross&#10;&#10;AI-generated content may be incorrect.">
            <a:extLst>
              <a:ext uri="{FF2B5EF4-FFF2-40B4-BE49-F238E27FC236}">
                <a16:creationId xmlns:a16="http://schemas.microsoft.com/office/drawing/2014/main" id="{7E036ACE-BD11-F627-C8BF-DFF27872F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26" y="1658498"/>
            <a:ext cx="10673257" cy="1693984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829D956D-A0FD-515D-DDA0-55CE137EE4B6}"/>
              </a:ext>
            </a:extLst>
          </p:cNvPr>
          <p:cNvGrpSpPr/>
          <p:nvPr/>
        </p:nvGrpSpPr>
        <p:grpSpPr>
          <a:xfrm>
            <a:off x="440286" y="4027888"/>
            <a:ext cx="4930518" cy="1930973"/>
            <a:chOff x="7659002" y="4155169"/>
            <a:chExt cx="4214163" cy="1518718"/>
          </a:xfrm>
        </p:grpSpPr>
        <p:pic>
          <p:nvPicPr>
            <p:cNvPr id="11" name="Picture 10" descr="A round plastic container with white objects in it&#10;&#10;AI-generated content may be incorrect.">
              <a:extLst>
                <a:ext uri="{FF2B5EF4-FFF2-40B4-BE49-F238E27FC236}">
                  <a16:creationId xmlns:a16="http://schemas.microsoft.com/office/drawing/2014/main" id="{C2A992AF-5AED-928A-2E8C-75FE5328D3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594162" y="4155169"/>
              <a:ext cx="1279003" cy="1495646"/>
            </a:xfrm>
            <a:prstGeom prst="rect">
              <a:avLst/>
            </a:prstGeom>
          </p:spPr>
        </p:pic>
        <p:pic>
          <p:nvPicPr>
            <p:cNvPr id="14" name="Picture 13" descr="A round plastic container with white text&#10;&#10;AI-generated content may be incorrect.">
              <a:extLst>
                <a:ext uri="{FF2B5EF4-FFF2-40B4-BE49-F238E27FC236}">
                  <a16:creationId xmlns:a16="http://schemas.microsoft.com/office/drawing/2014/main" id="{2C057BCB-B7AF-ABB8-442B-FC6F94505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59002" y="4155169"/>
              <a:ext cx="1388165" cy="1518718"/>
            </a:xfrm>
            <a:prstGeom prst="rect">
              <a:avLst/>
            </a:prstGeom>
          </p:spPr>
        </p:pic>
        <p:pic>
          <p:nvPicPr>
            <p:cNvPr id="16" name="Picture 15" descr="A plastic container with a yellow and white substance inside&#10;&#10;AI-generated content may be incorrect.">
              <a:extLst>
                <a:ext uri="{FF2B5EF4-FFF2-40B4-BE49-F238E27FC236}">
                  <a16:creationId xmlns:a16="http://schemas.microsoft.com/office/drawing/2014/main" id="{DEE3B28A-8272-7E3B-4E36-3D6B7A7F4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81163" y="4155169"/>
              <a:ext cx="1279003" cy="1518718"/>
            </a:xfrm>
            <a:prstGeom prst="rect">
              <a:avLst/>
            </a:prstGeom>
          </p:spPr>
        </p:pic>
      </p:grpSp>
      <p:pic>
        <p:nvPicPr>
          <p:cNvPr id="20" name="Picture 19" descr="A blue circle with black text&#10;&#10;AI-generated content may be incorrect.">
            <a:extLst>
              <a:ext uri="{FF2B5EF4-FFF2-40B4-BE49-F238E27FC236}">
                <a16:creationId xmlns:a16="http://schemas.microsoft.com/office/drawing/2014/main" id="{B0674009-28BA-243F-2902-A051675C4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9817" y="4018450"/>
            <a:ext cx="5964413" cy="1930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74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377BC-5D68-66D9-C923-29F36526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D70F-498F-D560-F818-DD850EFE97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Figures From Thesis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7D496B-0B8B-502F-7C7E-43EECAE7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691C7-81CF-983E-89E8-9DE7E793BA99}"/>
              </a:ext>
            </a:extLst>
          </p:cNvPr>
          <p:cNvSpPr txBox="1"/>
          <p:nvPr/>
        </p:nvSpPr>
        <p:spPr>
          <a:xfrm>
            <a:off x="642315" y="3646827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4.3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9D42FD-ACFB-A2CC-227D-9FDD44C524DA}"/>
              </a:ext>
            </a:extLst>
          </p:cNvPr>
          <p:cNvSpPr txBox="1"/>
          <p:nvPr/>
        </p:nvSpPr>
        <p:spPr>
          <a:xfrm>
            <a:off x="3980242" y="3662022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4.4</a:t>
            </a:r>
          </a:p>
        </p:txBody>
      </p:sp>
      <p:pic>
        <p:nvPicPr>
          <p:cNvPr id="5" name="Picture 4" descr="A close-up of a circular object&#10;&#10;AI-generated content may be incorrect.">
            <a:extLst>
              <a:ext uri="{FF2B5EF4-FFF2-40B4-BE49-F238E27FC236}">
                <a16:creationId xmlns:a16="http://schemas.microsoft.com/office/drawing/2014/main" id="{4138E62B-F94A-1DA0-8C3D-8C3C9D27A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64" y="1441496"/>
            <a:ext cx="2162561" cy="2257811"/>
          </a:xfrm>
          <a:prstGeom prst="rect">
            <a:avLst/>
          </a:prstGeom>
        </p:spPr>
      </p:pic>
      <p:pic>
        <p:nvPicPr>
          <p:cNvPr id="11" name="Picture 10" descr="A collage of images of a clock&#10;&#10;AI-generated content may be incorrect.">
            <a:extLst>
              <a:ext uri="{FF2B5EF4-FFF2-40B4-BE49-F238E27FC236}">
                <a16:creationId xmlns:a16="http://schemas.microsoft.com/office/drawing/2014/main" id="{CD0B402E-3579-1D8B-71EB-07A7DC4B7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6534" y="1598212"/>
            <a:ext cx="3095716" cy="2063810"/>
          </a:xfrm>
          <a:prstGeom prst="rect">
            <a:avLst/>
          </a:prstGeom>
        </p:spPr>
      </p:pic>
      <p:pic>
        <p:nvPicPr>
          <p:cNvPr id="16" name="Picture 15" descr="A red and yellow dots&#10;&#10;AI-generated content may be incorrect.">
            <a:extLst>
              <a:ext uri="{FF2B5EF4-FFF2-40B4-BE49-F238E27FC236}">
                <a16:creationId xmlns:a16="http://schemas.microsoft.com/office/drawing/2014/main" id="{AACDC230-39CA-F1A1-6C81-C8FEEE701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6994" y="1598212"/>
            <a:ext cx="5327073" cy="20486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9D8B381-11D4-6CFB-2285-1B9B4A940610}"/>
              </a:ext>
            </a:extLst>
          </p:cNvPr>
          <p:cNvSpPr txBox="1"/>
          <p:nvPr/>
        </p:nvSpPr>
        <p:spPr>
          <a:xfrm>
            <a:off x="8725791" y="3699307"/>
            <a:ext cx="126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5.7</a:t>
            </a:r>
          </a:p>
        </p:txBody>
      </p:sp>
      <p:pic>
        <p:nvPicPr>
          <p:cNvPr id="21" name="Picture 20" descr="A graph of a number of lines&#10;&#10;AI-generated content may be incorrect.">
            <a:extLst>
              <a:ext uri="{FF2B5EF4-FFF2-40B4-BE49-F238E27FC236}">
                <a16:creationId xmlns:a16="http://schemas.microsoft.com/office/drawing/2014/main" id="{3E235886-847B-0FE0-A6FE-8C3AC3F72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286" y="4231031"/>
            <a:ext cx="4439546" cy="225781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4DB3739-C5E3-AE88-2C3C-BE7DF25FF600}"/>
              </a:ext>
            </a:extLst>
          </p:cNvPr>
          <p:cNvSpPr txBox="1"/>
          <p:nvPr/>
        </p:nvSpPr>
        <p:spPr>
          <a:xfrm>
            <a:off x="2090615" y="6518104"/>
            <a:ext cx="126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5.8</a:t>
            </a:r>
          </a:p>
        </p:txBody>
      </p:sp>
      <p:pic>
        <p:nvPicPr>
          <p:cNvPr id="26" name="Picture 25" descr="A circular object with blue circles&#10;&#10;AI-generated content may be incorrect.">
            <a:extLst>
              <a:ext uri="{FF2B5EF4-FFF2-40B4-BE49-F238E27FC236}">
                <a16:creationId xmlns:a16="http://schemas.microsoft.com/office/drawing/2014/main" id="{42D5CEBE-044D-35BD-80EA-347CD84E27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5609" y="4231030"/>
            <a:ext cx="2149834" cy="214724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F6BF7C9-6B49-526F-9092-2303921C8B60}"/>
              </a:ext>
            </a:extLst>
          </p:cNvPr>
          <p:cNvSpPr txBox="1"/>
          <p:nvPr/>
        </p:nvSpPr>
        <p:spPr>
          <a:xfrm>
            <a:off x="5915787" y="6488668"/>
            <a:ext cx="126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5.9</a:t>
            </a:r>
          </a:p>
        </p:txBody>
      </p:sp>
      <p:pic>
        <p:nvPicPr>
          <p:cNvPr id="29" name="Picture 28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8936ECBD-75CC-B005-6F90-1DBBE030B9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9544" y="4824551"/>
            <a:ext cx="4234523" cy="109305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E06C3159-21F1-DB02-5942-598E1F7207E1}"/>
              </a:ext>
            </a:extLst>
          </p:cNvPr>
          <p:cNvSpPr txBox="1"/>
          <p:nvPr/>
        </p:nvSpPr>
        <p:spPr>
          <a:xfrm>
            <a:off x="9300335" y="6119336"/>
            <a:ext cx="126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5.10</a:t>
            </a:r>
          </a:p>
        </p:txBody>
      </p:sp>
    </p:spTree>
    <p:extLst>
      <p:ext uri="{BB962C8B-B14F-4D97-AF65-F5344CB8AC3E}">
        <p14:creationId xmlns:p14="http://schemas.microsoft.com/office/powerpoint/2010/main" val="2634539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DC945-960C-4484-8CF5-E70AF2E3B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99474-1779-85F1-61E0-2D2690C49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Figures From Thesis 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3EB95-F3F7-8AC6-1243-78D11732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D3E83847-8E4F-B734-6C5C-A7788DD10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4" y="1811455"/>
            <a:ext cx="1864962" cy="1800000"/>
          </a:xfrm>
          <a:prstGeom prst="rect">
            <a:avLst/>
          </a:prstGeom>
        </p:spPr>
      </p:pic>
      <p:pic>
        <p:nvPicPr>
          <p:cNvPr id="10" name="Picture 9" descr="A colorful object with a black background&#10;&#10;AI-generated content may be incorrect.">
            <a:extLst>
              <a:ext uri="{FF2B5EF4-FFF2-40B4-BE49-F238E27FC236}">
                <a16:creationId xmlns:a16="http://schemas.microsoft.com/office/drawing/2014/main" id="{F0102021-6623-1158-CC74-8DBEE50BB1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816" y="1811455"/>
            <a:ext cx="2006167" cy="1800000"/>
          </a:xfrm>
          <a:prstGeom prst="rect">
            <a:avLst/>
          </a:prstGeom>
        </p:spPr>
      </p:pic>
      <p:pic>
        <p:nvPicPr>
          <p:cNvPr id="15" name="Picture 14" descr="A group of purple and yellow objects&#10;&#10;AI-generated content may be incorrect.">
            <a:extLst>
              <a:ext uri="{FF2B5EF4-FFF2-40B4-BE49-F238E27FC236}">
                <a16:creationId xmlns:a16="http://schemas.microsoft.com/office/drawing/2014/main" id="{EE3FBF1F-4407-D1B2-09DD-B55789AA37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677" y="1811455"/>
            <a:ext cx="1837500" cy="1800000"/>
          </a:xfrm>
          <a:prstGeom prst="rect">
            <a:avLst/>
          </a:prstGeom>
        </p:spPr>
      </p:pic>
      <p:pic>
        <p:nvPicPr>
          <p:cNvPr id="19" name="Picture 18" descr="A colorful object with a black background&#10;&#10;AI-generated content may be incorrect.">
            <a:extLst>
              <a:ext uri="{FF2B5EF4-FFF2-40B4-BE49-F238E27FC236}">
                <a16:creationId xmlns:a16="http://schemas.microsoft.com/office/drawing/2014/main" id="{DB07AD00-EF30-0197-BD11-853CF49307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4128" y="1811455"/>
            <a:ext cx="1749152" cy="1800000"/>
          </a:xfrm>
          <a:prstGeom prst="rect">
            <a:avLst/>
          </a:prstGeom>
        </p:spPr>
      </p:pic>
      <p:pic>
        <p:nvPicPr>
          <p:cNvPr id="22" name="Picture 21" descr="A group of purple and yellow objects&#10;&#10;AI-generated content may be incorrect.">
            <a:extLst>
              <a:ext uri="{FF2B5EF4-FFF2-40B4-BE49-F238E27FC236}">
                <a16:creationId xmlns:a16="http://schemas.microsoft.com/office/drawing/2014/main" id="{1D97AE71-97B5-F40D-2288-D938287D8A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7974" y="1811455"/>
            <a:ext cx="1825403" cy="1800000"/>
          </a:xfrm>
          <a:prstGeom prst="rect">
            <a:avLst/>
          </a:prstGeom>
        </p:spPr>
      </p:pic>
      <p:pic>
        <p:nvPicPr>
          <p:cNvPr id="24" name="Picture 23" descr="A colorful flower with a black background&#10;&#10;AI-generated content may be incorrect.">
            <a:extLst>
              <a:ext uri="{FF2B5EF4-FFF2-40B4-BE49-F238E27FC236}">
                <a16:creationId xmlns:a16="http://schemas.microsoft.com/office/drawing/2014/main" id="{6485A95B-054B-C82A-032F-70AA356DAC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73377" y="1811455"/>
            <a:ext cx="1337430" cy="1800000"/>
          </a:xfrm>
          <a:prstGeom prst="rect">
            <a:avLst/>
          </a:prstGeom>
        </p:spPr>
      </p:pic>
      <p:pic>
        <p:nvPicPr>
          <p:cNvPr id="26" name="Picture 25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D62B7964-3BA6-7D34-99CE-95BCCCAA54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565" y="4253675"/>
            <a:ext cx="1706908" cy="1692000"/>
          </a:xfrm>
          <a:prstGeom prst="rect">
            <a:avLst/>
          </a:prstGeom>
        </p:spPr>
      </p:pic>
      <p:pic>
        <p:nvPicPr>
          <p:cNvPr id="28" name="Picture 27" descr="A colorful flower on a black background&#10;&#10;AI-generated content may be incorrect.">
            <a:extLst>
              <a:ext uri="{FF2B5EF4-FFF2-40B4-BE49-F238E27FC236}">
                <a16:creationId xmlns:a16="http://schemas.microsoft.com/office/drawing/2014/main" id="{538914E6-3B0E-D76C-4EE4-E7054B3F84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61473" y="4253675"/>
            <a:ext cx="1513894" cy="1692000"/>
          </a:xfrm>
          <a:prstGeom prst="rect">
            <a:avLst/>
          </a:prstGeom>
        </p:spPr>
      </p:pic>
      <p:pic>
        <p:nvPicPr>
          <p:cNvPr id="32" name="Picture 31" descr="A colorful object with a black background&#10;&#10;AI-generated content may be incorrect.">
            <a:extLst>
              <a:ext uri="{FF2B5EF4-FFF2-40B4-BE49-F238E27FC236}">
                <a16:creationId xmlns:a16="http://schemas.microsoft.com/office/drawing/2014/main" id="{FD780219-B9F8-B270-D8A5-3B3A1A22A2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76854" y="4253675"/>
            <a:ext cx="3059863" cy="1692000"/>
          </a:xfrm>
          <a:prstGeom prst="rect">
            <a:avLst/>
          </a:prstGeom>
        </p:spPr>
      </p:pic>
      <p:pic>
        <p:nvPicPr>
          <p:cNvPr id="34" name="Picture 33" descr="A group of purple and yellow flowers&#10;&#10;AI-generated content may be incorrect.">
            <a:extLst>
              <a:ext uri="{FF2B5EF4-FFF2-40B4-BE49-F238E27FC236}">
                <a16:creationId xmlns:a16="http://schemas.microsoft.com/office/drawing/2014/main" id="{6C4C2872-032A-A152-9142-E6D661B944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2297" y="4253675"/>
            <a:ext cx="1824906" cy="1692000"/>
          </a:xfrm>
          <a:prstGeom prst="rect">
            <a:avLst/>
          </a:prstGeom>
        </p:spPr>
      </p:pic>
      <p:pic>
        <p:nvPicPr>
          <p:cNvPr id="36" name="Picture 35" descr="A colorful crystal like flower&#10;&#10;AI-generated content may be incorrect.">
            <a:extLst>
              <a:ext uri="{FF2B5EF4-FFF2-40B4-BE49-F238E27FC236}">
                <a16:creationId xmlns:a16="http://schemas.microsoft.com/office/drawing/2014/main" id="{1B2D0C20-345F-1D18-4456-AA978F1C4BC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17203" y="4253675"/>
            <a:ext cx="1918120" cy="1692000"/>
          </a:xfrm>
          <a:prstGeom prst="rect">
            <a:avLst/>
          </a:prstGeom>
        </p:spPr>
      </p:pic>
      <p:pic>
        <p:nvPicPr>
          <p:cNvPr id="30" name="Picture 29" descr="A group of purple and yellow dragonflies&#10;&#10;AI-generated content may be incorrect.">
            <a:extLst>
              <a:ext uri="{FF2B5EF4-FFF2-40B4-BE49-F238E27FC236}">
                <a16:creationId xmlns:a16="http://schemas.microsoft.com/office/drawing/2014/main" id="{F0A239A1-3600-E3D6-A29A-E7C0EFC58B1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6623" y="4253675"/>
            <a:ext cx="1675008" cy="1692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3070F17D-C09F-FE51-C851-D6C8094544F1}"/>
              </a:ext>
            </a:extLst>
          </p:cNvPr>
          <p:cNvSpPr txBox="1"/>
          <p:nvPr/>
        </p:nvSpPr>
        <p:spPr>
          <a:xfrm>
            <a:off x="1518743" y="3646765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4FCE21-08EE-DDF0-273C-D805485C5D05}"/>
              </a:ext>
            </a:extLst>
          </p:cNvPr>
          <p:cNvSpPr txBox="1"/>
          <p:nvPr/>
        </p:nvSpPr>
        <p:spPr>
          <a:xfrm>
            <a:off x="5749978" y="3652359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4C7AFC-DFCB-24B2-1706-DD12E5835EC1}"/>
              </a:ext>
            </a:extLst>
          </p:cNvPr>
          <p:cNvSpPr txBox="1"/>
          <p:nvPr/>
        </p:nvSpPr>
        <p:spPr>
          <a:xfrm>
            <a:off x="9393053" y="3649196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4875A24-BF56-B3AC-2FAD-423AFB9625B3}"/>
              </a:ext>
            </a:extLst>
          </p:cNvPr>
          <p:cNvSpPr txBox="1"/>
          <p:nvPr/>
        </p:nvSpPr>
        <p:spPr>
          <a:xfrm>
            <a:off x="1008019" y="5998587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55CB06E-C8D0-1421-6AE5-7FE82CDDF17B}"/>
              </a:ext>
            </a:extLst>
          </p:cNvPr>
          <p:cNvSpPr txBox="1"/>
          <p:nvPr/>
        </p:nvSpPr>
        <p:spPr>
          <a:xfrm>
            <a:off x="5135315" y="5992993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80E86A-E8B2-4881-5E83-17889D0D70B4}"/>
              </a:ext>
            </a:extLst>
          </p:cNvPr>
          <p:cNvSpPr txBox="1"/>
          <p:nvPr/>
        </p:nvSpPr>
        <p:spPr>
          <a:xfrm>
            <a:off x="9483342" y="5992993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5.6</a:t>
            </a:r>
          </a:p>
        </p:txBody>
      </p:sp>
    </p:spTree>
    <p:extLst>
      <p:ext uri="{BB962C8B-B14F-4D97-AF65-F5344CB8AC3E}">
        <p14:creationId xmlns:p14="http://schemas.microsoft.com/office/powerpoint/2010/main" val="20559539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5900A-FA53-33A4-65DE-4474314C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DAAF-EBEC-BF20-2CCF-122032B9A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Figures From Thesis 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E305-4284-5FD7-3F82-9652890A9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260BBD5-53E5-18E9-86DE-FF5872778D1F}"/>
              </a:ext>
            </a:extLst>
          </p:cNvPr>
          <p:cNvSpPr txBox="1"/>
          <p:nvPr/>
        </p:nvSpPr>
        <p:spPr>
          <a:xfrm>
            <a:off x="5370805" y="3410180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B.1</a:t>
            </a:r>
          </a:p>
        </p:txBody>
      </p:sp>
      <p:pic>
        <p:nvPicPr>
          <p:cNvPr id="5" name="Picture 4" descr="A chart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A6D39B34-1640-0006-1D74-837A7CAC5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952" y="1581883"/>
            <a:ext cx="3000000" cy="1800000"/>
          </a:xfrm>
          <a:prstGeom prst="rect">
            <a:avLst/>
          </a:prstGeom>
        </p:spPr>
      </p:pic>
      <p:pic>
        <p:nvPicPr>
          <p:cNvPr id="8" name="Picture 7" descr="A chart of a diagram&#10;&#10;AI-generated content may be incorrect.">
            <a:extLst>
              <a:ext uri="{FF2B5EF4-FFF2-40B4-BE49-F238E27FC236}">
                <a16:creationId xmlns:a16="http://schemas.microsoft.com/office/drawing/2014/main" id="{61575C90-6E4F-EE5F-B239-7C76D94B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955" y="1629000"/>
            <a:ext cx="3000000" cy="1800000"/>
          </a:xfrm>
          <a:prstGeom prst="rect">
            <a:avLst/>
          </a:prstGeom>
        </p:spPr>
      </p:pic>
      <p:pic>
        <p:nvPicPr>
          <p:cNvPr id="11" name="Picture 10" descr="A chart with colored squares&#10;&#10;AI-generated content may be incorrect.">
            <a:extLst>
              <a:ext uri="{FF2B5EF4-FFF2-40B4-BE49-F238E27FC236}">
                <a16:creationId xmlns:a16="http://schemas.microsoft.com/office/drawing/2014/main" id="{394DDF11-0A4A-C60B-D360-F79477499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958" y="1581883"/>
            <a:ext cx="3000000" cy="1800000"/>
          </a:xfrm>
          <a:prstGeom prst="rect">
            <a:avLst/>
          </a:prstGeom>
        </p:spPr>
      </p:pic>
      <p:pic>
        <p:nvPicPr>
          <p:cNvPr id="13" name="Picture 12" descr="A chart with colored squares&#10;&#10;AI-generated content may be incorrect.">
            <a:extLst>
              <a:ext uri="{FF2B5EF4-FFF2-40B4-BE49-F238E27FC236}">
                <a16:creationId xmlns:a16="http://schemas.microsoft.com/office/drawing/2014/main" id="{B66445B9-41E2-70E2-3CE4-93A8EB523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952" y="4047200"/>
            <a:ext cx="3000000" cy="1800000"/>
          </a:xfrm>
          <a:prstGeom prst="rect">
            <a:avLst/>
          </a:prstGeom>
        </p:spPr>
      </p:pic>
      <p:pic>
        <p:nvPicPr>
          <p:cNvPr id="16" name="Picture 15" descr="A chart with colored boxes&#10;&#10;AI-generated content may be incorrect.">
            <a:extLst>
              <a:ext uri="{FF2B5EF4-FFF2-40B4-BE49-F238E27FC236}">
                <a16:creationId xmlns:a16="http://schemas.microsoft.com/office/drawing/2014/main" id="{0C7FD594-8CA9-4A0C-A9BB-4DAA25F898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955" y="4070943"/>
            <a:ext cx="3000000" cy="1800000"/>
          </a:xfrm>
          <a:prstGeom prst="rect">
            <a:avLst/>
          </a:prstGeom>
        </p:spPr>
      </p:pic>
      <p:pic>
        <p:nvPicPr>
          <p:cNvPr id="18" name="Picture 17" descr="A chart with colored boxes&#10;&#10;AI-generated content may be incorrect.">
            <a:extLst>
              <a:ext uri="{FF2B5EF4-FFF2-40B4-BE49-F238E27FC236}">
                <a16:creationId xmlns:a16="http://schemas.microsoft.com/office/drawing/2014/main" id="{A6789B90-5BCC-1780-D6DB-3421DE872E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1958" y="4070943"/>
            <a:ext cx="3000000" cy="1800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7F32B3E-3965-8F55-E36D-7D32B41FF522}"/>
              </a:ext>
            </a:extLst>
          </p:cNvPr>
          <p:cNvSpPr txBox="1"/>
          <p:nvPr/>
        </p:nvSpPr>
        <p:spPr>
          <a:xfrm>
            <a:off x="5370805" y="5943314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B.2</a:t>
            </a:r>
          </a:p>
        </p:txBody>
      </p:sp>
    </p:spTree>
    <p:extLst>
      <p:ext uri="{BB962C8B-B14F-4D97-AF65-F5344CB8AC3E}">
        <p14:creationId xmlns:p14="http://schemas.microsoft.com/office/powerpoint/2010/main" val="3900646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524EC-EBA0-00DC-9080-D4ECECAFD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1F9B-AE21-028D-4227-3E9962FB4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Figures From Thesis 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1CB17-913C-14B0-A68B-9439FE94D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945C36-22F8-CE4E-9E08-182250C3ED4C}"/>
              </a:ext>
            </a:extLst>
          </p:cNvPr>
          <p:cNvSpPr txBox="1"/>
          <p:nvPr/>
        </p:nvSpPr>
        <p:spPr>
          <a:xfrm>
            <a:off x="5370805" y="3410180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B.3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F58D1-BAC6-E855-60F7-1D7C03DBD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57952" y="1581883"/>
            <a:ext cx="3000000" cy="17999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667A3D-BF20-712A-6F42-0CCB69C122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94955" y="1629000"/>
            <a:ext cx="3000000" cy="17999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B847B4-BAB0-332C-6EFE-E67979382D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031958" y="1581883"/>
            <a:ext cx="3000000" cy="17999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1F3FA5-D4D9-A72E-EAB2-6E89860CC3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57952" y="4047200"/>
            <a:ext cx="3000000" cy="1799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083FC75-E0A8-9AAE-17AB-0912C0E2BA6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94955" y="4070943"/>
            <a:ext cx="3000000" cy="17999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683C12-E103-39BE-8C31-BB14EAB8CB1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31958" y="4070943"/>
            <a:ext cx="3000000" cy="17999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A87D1B2-34AA-7DFF-9546-C49EDF8B8823}"/>
              </a:ext>
            </a:extLst>
          </p:cNvPr>
          <p:cNvSpPr txBox="1"/>
          <p:nvPr/>
        </p:nvSpPr>
        <p:spPr>
          <a:xfrm>
            <a:off x="5370805" y="5943314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B.4</a:t>
            </a:r>
          </a:p>
        </p:txBody>
      </p:sp>
    </p:spTree>
    <p:extLst>
      <p:ext uri="{BB962C8B-B14F-4D97-AF65-F5344CB8AC3E}">
        <p14:creationId xmlns:p14="http://schemas.microsoft.com/office/powerpoint/2010/main" val="13818458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738CE-B972-F73F-FA57-D9D22E707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DA5A6-22CB-DE30-E4C6-A15FEDFE9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Figures From Thesis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2A8D5-908D-8298-B00C-F39A42631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7765516-884C-AB25-6315-3315ED3180A5}"/>
              </a:ext>
            </a:extLst>
          </p:cNvPr>
          <p:cNvSpPr txBox="1"/>
          <p:nvPr/>
        </p:nvSpPr>
        <p:spPr>
          <a:xfrm>
            <a:off x="5370805" y="3276992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B.5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DC007A-A106-F6AE-030E-BDDB7C25D7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25978" y="1581883"/>
            <a:ext cx="2820000" cy="1692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706E95-23AA-45E0-D5E4-EF8B719B45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84955" y="1581883"/>
            <a:ext cx="2820000" cy="1692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A07A242-B68B-D1DE-EA36-43A37B86DC9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43932" y="1581883"/>
            <a:ext cx="2820000" cy="1692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703182-0101-1E39-3E3C-1C148FF1B6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157953" y="4047200"/>
            <a:ext cx="2999998" cy="1799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61FADD-F8C4-0F54-6D94-62D05B1539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94956" y="4070943"/>
            <a:ext cx="2999998" cy="17999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E48E6BF-9C5C-BF06-046C-6E35CF9862B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031959" y="4070943"/>
            <a:ext cx="2999998" cy="179999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1F174F3-B3F4-3E7C-9F87-BBE956562642}"/>
              </a:ext>
            </a:extLst>
          </p:cNvPr>
          <p:cNvSpPr txBox="1"/>
          <p:nvPr/>
        </p:nvSpPr>
        <p:spPr>
          <a:xfrm>
            <a:off x="5370805" y="5943314"/>
            <a:ext cx="144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Figure B.6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FFE108-3009-E81B-9280-627D0A96FCE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102909" y="1581883"/>
            <a:ext cx="2820000" cy="1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383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8207-4FFF-8F38-C687-1407A6618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Tables from 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47E8D-4F23-4F94-34C1-B801355B5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BE0CBA-7F34-86BA-8E12-9CD9D7982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372" y="1532896"/>
            <a:ext cx="4618305" cy="5110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BAE50A-0663-27DB-057D-9EDFEB336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14" y="2563586"/>
            <a:ext cx="5544615" cy="279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31283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RSGP">
      <a:dk1>
        <a:srgbClr val="000000"/>
      </a:dk1>
      <a:lt1>
        <a:sysClr val="window" lastClr="FFFFFF"/>
      </a:lt1>
      <a:dk2>
        <a:srgbClr val="000000"/>
      </a:dk2>
      <a:lt2>
        <a:srgbClr val="7A003B"/>
      </a:lt2>
      <a:accent1>
        <a:srgbClr val="7A003B"/>
      </a:accent1>
      <a:accent2>
        <a:srgbClr val="0065B3"/>
      </a:accent2>
      <a:accent3>
        <a:srgbClr val="7A003B"/>
      </a:accent3>
      <a:accent4>
        <a:srgbClr val="8E979E"/>
      </a:accent4>
      <a:accent5>
        <a:srgbClr val="A3AAAF"/>
      </a:accent5>
      <a:accent6>
        <a:srgbClr val="0065B3"/>
      </a:accent6>
      <a:hlink>
        <a:srgbClr val="0065B3"/>
      </a:hlink>
      <a:folHlink>
        <a:srgbClr val="8E979E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8411539-00b7-4572-8b18-803c57b14b09" xsi:nil="true"/>
    <lcf76f155ced4ddcb4097134ff3c332f xmlns="e889928c-6b74-46f8-8683-e9257a9929a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7216D2A0A4FF4C995125838208565B" ma:contentTypeVersion="17" ma:contentTypeDescription="Create a new document." ma:contentTypeScope="" ma:versionID="873c0a52cfece886030dd2e1d12c8c6d">
  <xsd:schema xmlns:xsd="http://www.w3.org/2001/XMLSchema" xmlns:xs="http://www.w3.org/2001/XMLSchema" xmlns:p="http://schemas.microsoft.com/office/2006/metadata/properties" xmlns:ns2="e889928c-6b74-46f8-8683-e9257a9929ad" xmlns:ns3="d8411539-00b7-4572-8b18-803c57b14b09" targetNamespace="http://schemas.microsoft.com/office/2006/metadata/properties" ma:root="true" ma:fieldsID="d26bfdf9a5d4c7863cd3759722213a7b" ns2:_="" ns3:_="">
    <xsd:import namespace="e889928c-6b74-46f8-8683-e9257a9929ad"/>
    <xsd:import namespace="d8411539-00b7-4572-8b18-803c57b14b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9928c-6b74-46f8-8683-e9257a9929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a073764d-e844-48d8-8cbc-d63b9d9528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411539-00b7-4572-8b18-803c57b14b0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1eda3fb-11d4-4627-8ef3-55a39f3b2f4a}" ma:internalName="TaxCatchAll" ma:showField="CatchAllData" ma:web="d8411539-00b7-4572-8b18-803c57b14b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0ACA2E-3C87-4F80-9770-C58BAB0B3419}">
  <ds:schemaRefs>
    <ds:schemaRef ds:uri="http://schemas.microsoft.com/office/2006/documentManagement/types"/>
    <ds:schemaRef ds:uri="e889928c-6b74-46f8-8683-e9257a9929ad"/>
    <ds:schemaRef ds:uri="http://www.w3.org/XML/1998/namespace"/>
    <ds:schemaRef ds:uri="d8411539-00b7-4572-8b18-803c57b14b09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B2BD2649-BD52-44DE-8315-9AD6C7560E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89928c-6b74-46f8-8683-e9257a9929ad"/>
    <ds:schemaRef ds:uri="d8411539-00b7-4572-8b18-803c57b14b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6195C81-D6F1-4F08-96CD-FB73B66F643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10501</TotalTime>
  <Words>1007</Words>
  <Application>Microsoft Office PowerPoint</Application>
  <PresentationFormat>Widescreen</PresentationFormat>
  <Paragraphs>257</Paragraphs>
  <Slides>30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Wingdings</vt:lpstr>
      <vt:lpstr>Wingdings 2</vt:lpstr>
      <vt:lpstr>Dividend</vt:lpstr>
      <vt:lpstr>Keeping It Consistent: ASSESSING MEASUREMENT REPRODUCIBILITY OF A NOVEL ANISOTROPIC PHANTOM FOR HIGHER ORDER DIFFUSION TENSOR MRI SEQUENCES</vt:lpstr>
      <vt:lpstr>Introduction</vt:lpstr>
      <vt:lpstr>Introduction</vt:lpstr>
      <vt:lpstr>Background</vt:lpstr>
      <vt:lpstr>Background</vt:lpstr>
      <vt:lpstr>Background</vt:lpstr>
      <vt:lpstr>Methods</vt:lpstr>
      <vt:lpstr>Results: DTI</vt:lpstr>
      <vt:lpstr>Results: DTI</vt:lpstr>
      <vt:lpstr>Results: DKI</vt:lpstr>
      <vt:lpstr>Results: DKI</vt:lpstr>
      <vt:lpstr>Results: CSD</vt:lpstr>
      <vt:lpstr>Results: CSD</vt:lpstr>
      <vt:lpstr>Discussion</vt:lpstr>
      <vt:lpstr>PowerPoint Presentation</vt:lpstr>
      <vt:lpstr>PowerPoint Presentation</vt:lpstr>
      <vt:lpstr>DWI</vt:lpstr>
      <vt:lpstr>DTI</vt:lpstr>
      <vt:lpstr>DKI</vt:lpstr>
      <vt:lpstr>CSD</vt:lpstr>
      <vt:lpstr>CSD</vt:lpstr>
      <vt:lpstr>Scanner Parameters</vt:lpstr>
      <vt:lpstr>Figures From Thesis 1</vt:lpstr>
      <vt:lpstr>Figures From Thesis 2</vt:lpstr>
      <vt:lpstr>Figures From Thesis 3</vt:lpstr>
      <vt:lpstr>Figures From Thesis 4</vt:lpstr>
      <vt:lpstr>Figures From Thesis 5</vt:lpstr>
      <vt:lpstr>Figures From Thesis 6</vt:lpstr>
      <vt:lpstr>Figures From Thesis 7</vt:lpstr>
      <vt:lpstr>Tables from Thesis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Text</dc:title>
  <dc:creator>Erica Dao</dc:creator>
  <cp:lastModifiedBy>Lauren Stephens</cp:lastModifiedBy>
  <cp:revision>37</cp:revision>
  <dcterms:created xsi:type="dcterms:W3CDTF">2017-06-16T17:39:10Z</dcterms:created>
  <dcterms:modified xsi:type="dcterms:W3CDTF">2025-05-26T14:48:36Z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0x0101009F7216D2A0A4FF4C995125838208565B</vt:lpwstr>
  </property>
</Properties>
</file>